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4D6AE6B-B8E1-40BD-B0D9-E72814E25067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525B9D-38E0-44D0-9192-3164F5467FD6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AE4EF4-7E6A-452A-8837-22A913763FCD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1F9C67-6C3F-44AB-9468-926838431EC2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8B5D1C-A08A-402F-B12A-B3F4141528AB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9F34EB-72EB-46AF-A5E4-EE40C1775D3B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221D13-CA52-48BD-9316-0240F7B287D4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BB3FE5-2B3B-4275-B597-9239FE965DA0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902F06-BD69-4673-B657-37B0B2554843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859D10-54D3-4E1C-A071-B52194FADD62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04BFC1-CA2D-41C1-8EAC-F1A8DABBA8BE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FA26D3-FBFF-48FB-A256-65022DD1D092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162D6A-8010-4DA5-AA3C-DD7A6F94190A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3A18B1-973A-4FC7-B599-0808844C0974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4D5FA5-F206-471A-8BD8-8E9AD8CB6CA0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2D7CAF-8339-4A6D-AE27-3053E13B9CBF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028964-295F-4AC0-B7C5-8E3D81653422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FED993-AAC4-4229-AA4E-3301AC99F056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C4E6AE-4372-49D0-B08E-119CF5A83C2A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1B28F4-C416-4629-9914-3D3C4B466211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073441-22D4-461F-AADF-BF31B7639C10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558AD5-FF14-480F-AB30-A163F53F5F24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930333-FE02-4E36-81A0-6B747D141FC0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8C7540-AE1A-4203-97EC-6EF60CD15863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84B107-66CC-47D0-AF1C-131CA0FF8C9E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BB47B4-1583-42A3-9964-805474C75EE9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99EA54-F2BE-4832-8024-640189410F38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2498F6-D9AF-4464-A320-F1A1A09E9FAB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9AB31F-03CB-45B4-8A3E-F181BDB14AF5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F74C55-2DDD-4F09-B65B-13C90C573B5C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368AA1-02AB-4FE0-8BF2-1503D1D4896C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457200"/>
            <a:ext cx="9142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392" strike="noStrike">
                <a:solidFill>
                  <a:srgbClr val="6e7681"/>
                </a:solidFill>
                <a:latin typeface="Consolas"/>
                <a:ea typeface="Consolas"/>
              </a:rPr>
              <a:t>01 00 00 00  A4 D9 F2 01  E4 C8 55 7B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914400"/>
            <a:ext cx="548532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0" spc="-1" strike="noStrike">
                <a:solidFill>
                  <a:srgbClr val="e6edf3"/>
                </a:solidFill>
                <a:latin typeface="Arial Black"/>
                <a:ea typeface="Arial Black"/>
              </a:rPr>
              <a:t>VPN</a:t>
            </a:r>
            <a:endParaRPr b="0" lang="ru-RU" sz="1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48640" y="3246120"/>
            <a:ext cx="730440" cy="720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3429000"/>
            <a:ext cx="10971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200" spc="-1" strike="noStrike">
                <a:solidFill>
                  <a:srgbClr val="e6edf3"/>
                </a:solidFill>
                <a:latin typeface="Arial Black"/>
                <a:ea typeface="Arial Black"/>
              </a:rPr>
              <a:t>протоколы, пакеты и куда всё это движется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48640" y="4297680"/>
            <a:ext cx="7771320" cy="730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31520" y="4297680"/>
            <a:ext cx="75884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500" spc="-1" strike="noStrike">
                <a:solidFill>
                  <a:srgbClr val="00d9b8"/>
                </a:solidFill>
                <a:latin typeface="Calibri"/>
                <a:ea typeface="Calibri"/>
              </a:rPr>
              <a:t>Базовые понятия   →   </a:t>
            </a:r>
            <a:r>
              <a:rPr b="0" lang="ru-RU" sz="1500" spc="-1" strike="noStrike">
                <a:solidFill>
                  <a:srgbClr val="e6edf3"/>
                </a:solidFill>
                <a:latin typeface="Calibri"/>
                <a:ea typeface="Calibri"/>
              </a:rPr>
              <a:t>MASQUE, Zero Trust и mesh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48640" y="603504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Гаврилов Артём Алексеевич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332720" y="6035040"/>
            <a:ext cx="127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00d9b8"/>
                </a:solidFill>
                <a:latin typeface="Consolas"/>
                <a:ea typeface="Consolas"/>
              </a:rPr>
              <a:t>2026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223760" y="1188720"/>
            <a:ext cx="4570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FE 80 00 00  00 00 00 00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223760" y="1508760"/>
            <a:ext cx="4570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0A 00 00 01  C0 A8 01 64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223760" y="1828800"/>
            <a:ext cx="4570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51 82 0 -&gt; 51 82 0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223760" y="2148840"/>
            <a:ext cx="4570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[ESP] SPI=0x1a2b3c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223760" y="2468880"/>
            <a:ext cx="4570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Noise_IKpsk2_25519_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223760" y="2788920"/>
            <a:ext cx="4570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  </a:t>
            </a: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ChaChaPoly_BLAKE2s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02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AGENDA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О чём поговорим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48640" y="1737360"/>
            <a:ext cx="821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600" spc="-1" strike="noStrike">
                <a:solidFill>
                  <a:srgbClr val="00d9b8"/>
                </a:solidFill>
                <a:latin typeface="Consolas"/>
                <a:ea typeface="Consolas"/>
              </a:rPr>
              <a:t>01</a:t>
            </a:r>
            <a:endParaRPr b="0" lang="ru-RU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1417320" y="1810440"/>
            <a:ext cx="360" cy="42048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600200" y="173736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e6edf3"/>
                </a:solidFill>
                <a:latin typeface="Arial Black"/>
                <a:ea typeface="Arial Black"/>
              </a:rPr>
              <a:t>Зачем VPN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5486400" y="1737360"/>
            <a:ext cx="6125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три разные задачи, одна технология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548640" y="2377440"/>
            <a:ext cx="821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600" spc="-1" strike="noStrike">
                <a:solidFill>
                  <a:srgbClr val="00d9b8"/>
                </a:solidFill>
                <a:latin typeface="Consolas"/>
                <a:ea typeface="Consolas"/>
              </a:rPr>
              <a:t>02</a:t>
            </a:r>
            <a:endParaRPr b="0" lang="ru-RU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1417320" y="2450520"/>
            <a:ext cx="360" cy="42048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1600200" y="237744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e6edf3"/>
                </a:solidFill>
                <a:latin typeface="Arial Black"/>
                <a:ea typeface="Arial Black"/>
              </a:rPr>
              <a:t>Как это работает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5486400" y="2377440"/>
            <a:ext cx="6125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туннели, инкапсуляция, путь пакета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548640" y="3017520"/>
            <a:ext cx="821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600" spc="-1" strike="noStrike">
                <a:solidFill>
                  <a:srgbClr val="00d9b8"/>
                </a:solidFill>
                <a:latin typeface="Consolas"/>
                <a:ea typeface="Consolas"/>
              </a:rPr>
              <a:t>03</a:t>
            </a:r>
            <a:endParaRPr b="0" lang="ru-RU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1417320" y="3090600"/>
            <a:ext cx="360" cy="42048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1600200" y="301752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e6edf3"/>
                </a:solidFill>
                <a:latin typeface="Arial Black"/>
                <a:ea typeface="Arial Black"/>
              </a:rPr>
              <a:t>Handshake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5486400" y="3017520"/>
            <a:ext cx="6125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Diffie-Hellman, WireGuard, IPsec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548640" y="3657600"/>
            <a:ext cx="821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600" spc="-1" strike="noStrike">
                <a:solidFill>
                  <a:srgbClr val="00d9b8"/>
                </a:solidFill>
                <a:latin typeface="Consolas"/>
                <a:ea typeface="Consolas"/>
              </a:rPr>
              <a:t>04</a:t>
            </a:r>
            <a:endParaRPr b="0" lang="ru-RU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1417320" y="3730680"/>
            <a:ext cx="360" cy="42048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1600200" y="365760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e6edf3"/>
                </a:solidFill>
                <a:latin typeface="Arial Black"/>
                <a:ea typeface="Arial Black"/>
              </a:rPr>
              <a:t>Классификация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5486400" y="3657600"/>
            <a:ext cx="6125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OSI, протоколы, сравнение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548640" y="4297680"/>
            <a:ext cx="821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600" spc="-1" strike="noStrike">
                <a:solidFill>
                  <a:srgbClr val="00d9b8"/>
                </a:solidFill>
                <a:latin typeface="Consolas"/>
                <a:ea typeface="Consolas"/>
              </a:rPr>
              <a:t>05</a:t>
            </a:r>
            <a:endParaRPr b="0" lang="ru-RU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21"/>
          <p:cNvSpPr/>
          <p:nvPr/>
        </p:nvSpPr>
        <p:spPr>
          <a:xfrm>
            <a:off x="1417320" y="4370760"/>
            <a:ext cx="360" cy="42048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1600200" y="429768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e6edf3"/>
                </a:solidFill>
                <a:latin typeface="Arial Black"/>
                <a:ea typeface="Arial Black"/>
              </a:rPr>
              <a:t>Реальные проблемы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5486400" y="4297680"/>
            <a:ext cx="6125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MTU, NAT, roaming, IPv6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548640" y="4937760"/>
            <a:ext cx="821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600" spc="-1" strike="noStrike">
                <a:solidFill>
                  <a:srgbClr val="00d9b8"/>
                </a:solidFill>
                <a:latin typeface="Consolas"/>
                <a:ea typeface="Consolas"/>
              </a:rPr>
              <a:t>06</a:t>
            </a:r>
            <a:endParaRPr b="0" lang="ru-RU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25"/>
          <p:cNvSpPr/>
          <p:nvPr/>
        </p:nvSpPr>
        <p:spPr>
          <a:xfrm>
            <a:off x="1417320" y="5010840"/>
            <a:ext cx="360" cy="42048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1600200" y="493776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e6edf3"/>
                </a:solidFill>
                <a:latin typeface="Arial Black"/>
                <a:ea typeface="Arial Black"/>
              </a:rPr>
              <a:t>Куда всё движется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5486400" y="4937760"/>
            <a:ext cx="6125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Zero Trust, MASQUE, post-quantum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8"/>
          <p:cNvSpPr/>
          <p:nvPr/>
        </p:nvSpPr>
        <p:spPr>
          <a:xfrm>
            <a:off x="548640" y="5577840"/>
            <a:ext cx="821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600" spc="-1" strike="noStrike">
                <a:solidFill>
                  <a:srgbClr val="00d9b8"/>
                </a:solidFill>
                <a:latin typeface="Consolas"/>
                <a:ea typeface="Consolas"/>
              </a:rPr>
              <a:t>07</a:t>
            </a:r>
            <a:endParaRPr b="0" lang="ru-RU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29"/>
          <p:cNvSpPr/>
          <p:nvPr/>
        </p:nvSpPr>
        <p:spPr>
          <a:xfrm>
            <a:off x="1417320" y="5650920"/>
            <a:ext cx="360" cy="42048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1600200" y="557784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000" spc="-1" strike="noStrike">
                <a:solidFill>
                  <a:srgbClr val="e6edf3"/>
                </a:solidFill>
                <a:latin typeface="Arial Black"/>
                <a:ea typeface="Arial Black"/>
              </a:rPr>
              <a:t>Go-экосистема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31"/>
          <p:cNvSpPr/>
          <p:nvPr/>
        </p:nvSpPr>
        <p:spPr>
          <a:xfrm>
            <a:off x="5486400" y="5577840"/>
            <a:ext cx="6125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Tailscale, NetBird, Nebula, wireguard-go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03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  ·  МОТИВАЦИЯ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Зачем вообще нужен VPN?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48640" y="160020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Ваш пакет проходит через десяток чужих устройств. Каждое может посмотреть внутрь или изменить его.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548640" y="2194560"/>
            <a:ext cx="3443040" cy="3473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548640" y="2194560"/>
            <a:ext cx="81360" cy="347364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914400" y="26060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60" name="Text 7"/>
          <p:cNvSpPr/>
          <p:nvPr/>
        </p:nvSpPr>
        <p:spPr>
          <a:xfrm>
            <a:off x="868680" y="3337560"/>
            <a:ext cx="2940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900" spc="-1" strike="noStrike">
                <a:solidFill>
                  <a:srgbClr val="e6edf3"/>
                </a:solidFill>
                <a:latin typeface="Arial Black"/>
                <a:ea typeface="Arial Black"/>
              </a:rPr>
              <a:t>Корпоративная задача</a:t>
            </a:r>
            <a:endParaRPr b="0" lang="ru-RU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868680" y="3931920"/>
            <a:ext cx="29401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Вы работаете из дома, а база данных и внутренние сервисы — в офисе. Нужно, чтобы ноутбук «как будто» сидел в офисной сети.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868680" y="5166360"/>
            <a:ext cx="2940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293" strike="noStrike">
                <a:solidFill>
                  <a:srgbClr val="00d9b8"/>
                </a:solidFill>
                <a:latin typeface="Consolas"/>
                <a:ea typeface="Consolas"/>
              </a:rPr>
              <a:t>Site-to-site · Remote access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358520" y="2194560"/>
            <a:ext cx="3443040" cy="3473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4358520" y="2194560"/>
            <a:ext cx="81360" cy="3473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1" descr="preencoded.png"/>
          <p:cNvPicPr/>
          <p:nvPr/>
        </p:nvPicPr>
        <p:blipFill>
          <a:blip r:embed="rId2"/>
          <a:stretch/>
        </p:blipFill>
        <p:spPr>
          <a:xfrm>
            <a:off x="4724280" y="26060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66" name="Text 12"/>
          <p:cNvSpPr/>
          <p:nvPr/>
        </p:nvSpPr>
        <p:spPr>
          <a:xfrm>
            <a:off x="4678560" y="3337560"/>
            <a:ext cx="2940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900" spc="-1" strike="noStrike">
                <a:solidFill>
                  <a:srgbClr val="e6edf3"/>
                </a:solidFill>
                <a:latin typeface="Arial Black"/>
                <a:ea typeface="Arial Black"/>
              </a:rPr>
              <a:t>Приватность</a:t>
            </a:r>
            <a:endParaRPr b="0" lang="ru-RU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4668840" y="4140000"/>
            <a:ext cx="29401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Например, подключились к Wi-Fi в кофейне или аэропорту. Любой в той же сети теоретически может перехватить ваш трафик или попытаться подменить его. VPN шифрует всё, что уходит с устройства, — посторонние видят только непонятные байты, влезть в содержимое не могут.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4678560" y="5166360"/>
            <a:ext cx="2940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293" strike="noStrike">
                <a:solidFill>
                  <a:srgbClr val="7c3aed"/>
                </a:solidFill>
                <a:latin typeface="Consolas"/>
                <a:ea typeface="Consolas"/>
              </a:rPr>
              <a:t>Traffic anonymization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168760" y="2194560"/>
            <a:ext cx="3443040" cy="3473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8168760" y="2194560"/>
            <a:ext cx="81360" cy="34736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 2" descr="preencoded.png"/>
          <p:cNvPicPr/>
          <p:nvPr/>
        </p:nvPicPr>
        <p:blipFill>
          <a:blip r:embed="rId3"/>
          <a:stretch/>
        </p:blipFill>
        <p:spPr>
          <a:xfrm>
            <a:off x="8534520" y="26060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72" name="Text 17"/>
          <p:cNvSpPr/>
          <p:nvPr/>
        </p:nvSpPr>
        <p:spPr>
          <a:xfrm>
            <a:off x="8488800" y="3337560"/>
            <a:ext cx="2940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900" spc="-1" strike="noStrike">
                <a:solidFill>
                  <a:srgbClr val="e6edf3"/>
                </a:solidFill>
                <a:latin typeface="Arial Black"/>
                <a:ea typeface="Arial Black"/>
              </a:rPr>
              <a:t>Обход блокировок</a:t>
            </a:r>
            <a:endParaRPr b="0" lang="ru-RU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8488800" y="3931920"/>
            <a:ext cx="29401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Сайт заблокирован в вашей стране, но не заблокирован там, где стоит VPN. Он ходит на сайт от вашего имени.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8488800" y="5166360"/>
            <a:ext cx="2940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293" strike="noStrike">
                <a:solidFill>
                  <a:srgbClr val="ff8c42"/>
                </a:solidFill>
                <a:latin typeface="Consolas"/>
                <a:ea typeface="Consolas"/>
              </a:rPr>
              <a:t>Censorship circumvention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548640" y="6035040"/>
            <a:ext cx="10971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Все три задачи решаются одинаково: </a:t>
            </a:r>
            <a:r>
              <a:rPr b="1" lang="ru-RU" sz="1400" spc="-1" strike="noStrike">
                <a:solidFill>
                  <a:srgbClr val="e6edf3"/>
                </a:solidFill>
                <a:latin typeface="Calibri"/>
                <a:ea typeface="Calibri"/>
              </a:rPr>
              <a:t>зашифрованный туннель между устройством и сервером, весь трафик через него.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04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2  ·  ОСНОВЫ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Что такое «туннель»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48640" y="169164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e6edf3"/>
                </a:solidFill>
                <a:latin typeface="Calibri"/>
                <a:ea typeface="Calibri"/>
              </a:rPr>
              <a:t>Вы пишете письмо. Кладёте в конверт — это обычный IP-пакет.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548640" y="2240280"/>
            <a:ext cx="54853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Не хотите, чтобы почтальоны знали, кому оно? </a:t>
            </a:r>
            <a:r>
              <a:rPr b="0" lang="ru-RU" sz="1400" spc="-1" strike="noStrike">
                <a:solidFill>
                  <a:srgbClr val="e6edf3"/>
                </a:solidFill>
                <a:latin typeface="Calibri"/>
                <a:ea typeface="Calibri"/>
              </a:rPr>
              <a:t>Кладёте ваш запечатанный конверт </a:t>
            </a:r>
            <a:r>
              <a:rPr b="1" lang="ru-RU" sz="1400" spc="-1" strike="noStrike">
                <a:solidFill>
                  <a:srgbClr val="00d9b8"/>
                </a:solidFill>
                <a:latin typeface="Calibri"/>
                <a:ea typeface="Calibri"/>
              </a:rPr>
              <a:t>внутрь</a:t>
            </a:r>
            <a:r>
              <a:rPr b="0" lang="ru-RU" sz="1400" spc="-1" strike="noStrike">
                <a:solidFill>
                  <a:srgbClr val="e6edf3"/>
                </a:solidFill>
                <a:latin typeface="Calibri"/>
                <a:ea typeface="Calibri"/>
              </a:rPr>
              <a:t> другого. На внешнем — адрес курьерской службы.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548640" y="3474720"/>
            <a:ext cx="5485320" cy="821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548640" y="3474720"/>
            <a:ext cx="72000" cy="8218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777240" y="354780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92" strike="noStrike">
                <a:solidFill>
                  <a:srgbClr val="00d9b8"/>
                </a:solidFill>
                <a:latin typeface="Arial Black"/>
                <a:ea typeface="Arial Black"/>
              </a:rPr>
              <a:t>ИНКАПСУЛЯЦИЯ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777240" y="385884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Запихивание одного пакета целиком внутрь другого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548640" y="4434840"/>
            <a:ext cx="5485320" cy="821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548640" y="4434840"/>
            <a:ext cx="72000" cy="8218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777240" y="450792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92" strike="noStrike">
                <a:solidFill>
                  <a:srgbClr val="00d9b8"/>
                </a:solidFill>
                <a:latin typeface="Arial Black"/>
                <a:ea typeface="Arial Black"/>
              </a:rPr>
              <a:t>ШИФРОВАНИЕ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777240" y="481896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Превращение содержимого в нечитаемые байты без ключа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548640" y="5486400"/>
            <a:ext cx="5485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ru-RU" sz="1400" spc="-1" strike="noStrike">
                <a:solidFill>
                  <a:srgbClr val="00d9b8"/>
                </a:solidFill>
                <a:latin typeface="Calibri"/>
                <a:ea typeface="Calibri"/>
              </a:rPr>
              <a:t>VPN делает обе вещи одновременно.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6583680" y="1691640"/>
            <a:ext cx="5028120" cy="45709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6766560" y="182880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293" strike="noStrike">
                <a:solidFill>
                  <a:srgbClr val="00d9b8"/>
                </a:solidFill>
                <a:latin typeface="Consolas"/>
                <a:ea typeface="Consolas"/>
              </a:rPr>
              <a:t>ВНЕШНИЙ ПАКЕТ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6766560" y="214884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→ </a:t>
            </a: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от меня  ·  → к VPN-серверу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10927080" y="178308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94" name="Text 18"/>
          <p:cNvSpPr/>
          <p:nvPr/>
        </p:nvSpPr>
        <p:spPr>
          <a:xfrm>
            <a:off x="6858000" y="2606040"/>
            <a:ext cx="4753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000" spc="-1" strike="noStrike">
                <a:solidFill>
                  <a:srgbClr val="d29922"/>
                </a:solidFill>
                <a:latin typeface="Consolas"/>
                <a:ea typeface="Consolas"/>
              </a:rPr>
              <a:t>ENCRYPTED — провайдер не видит что внутри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9"/>
          <p:cNvSpPr/>
          <p:nvPr/>
        </p:nvSpPr>
        <p:spPr>
          <a:xfrm>
            <a:off x="6949440" y="3017520"/>
            <a:ext cx="4296600" cy="3016440"/>
          </a:xfrm>
          <a:prstGeom prst="rect">
            <a:avLst/>
          </a:prstGeom>
          <a:solidFill>
            <a:srgbClr val="1c2128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7132320" y="3200400"/>
            <a:ext cx="4113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293" strike="noStrike">
                <a:solidFill>
                  <a:srgbClr val="7c3aed"/>
                </a:solidFill>
                <a:latin typeface="Consolas"/>
                <a:ea typeface="Consolas"/>
              </a:rPr>
              <a:t>ВНУТРЕННИЙ ПАКЕТ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1"/>
          <p:cNvSpPr/>
          <p:nvPr/>
        </p:nvSpPr>
        <p:spPr>
          <a:xfrm>
            <a:off x="7132320" y="3520440"/>
            <a:ext cx="4113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→ </a:t>
            </a: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от меня  ·  → к google.com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2"/>
          <p:cNvSpPr/>
          <p:nvPr/>
        </p:nvSpPr>
        <p:spPr>
          <a:xfrm>
            <a:off x="7132320" y="3931920"/>
            <a:ext cx="3931920" cy="360"/>
          </a:xfrm>
          <a:prstGeom prst="line">
            <a:avLst/>
          </a:prstGeom>
          <a:ln w="12700">
            <a:solidFill>
              <a:srgbClr val="3036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7132320" y="402336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TCP / TLS / HTTP...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4"/>
          <p:cNvSpPr/>
          <p:nvPr/>
        </p:nvSpPr>
        <p:spPr>
          <a:xfrm>
            <a:off x="7132320" y="434340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GET /search?q=...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7132320" y="46634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...real payload here...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6"/>
          <p:cNvSpPr/>
          <p:nvPr/>
        </p:nvSpPr>
        <p:spPr>
          <a:xfrm>
            <a:off x="7132320" y="5577840"/>
            <a:ext cx="4113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↑ </a:t>
            </a:r>
            <a:r>
              <a:rPr b="0" i="1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это никто не видит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05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2  ·  ОСНОВЫ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Инкапсуляция — на уровне байт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548640" y="182880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392" strike="noStrike">
                <a:solidFill>
                  <a:srgbClr val="8b949e"/>
                </a:solidFill>
                <a:latin typeface="Consolas"/>
                <a:ea typeface="Consolas"/>
              </a:rPr>
              <a:t>БЕЗ VPN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548640" y="2286000"/>
            <a:ext cx="2925000" cy="82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685800" y="2359080"/>
            <a:ext cx="2696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7c3aed"/>
                </a:solidFill>
                <a:latin typeface="Consolas"/>
                <a:ea typeface="Consolas"/>
              </a:rPr>
              <a:t>IP hdr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685800" y="2697480"/>
            <a:ext cx="2696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me → google.com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3520440" y="2286000"/>
            <a:ext cx="2193480" cy="82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3657600" y="2359080"/>
            <a:ext cx="1964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00d9b8"/>
                </a:solidFill>
                <a:latin typeface="Consolas"/>
                <a:ea typeface="Consolas"/>
              </a:rPr>
              <a:t>TCP / TLS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3657600" y="2697480"/>
            <a:ext cx="1964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порт, флаги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1"/>
          <p:cNvSpPr/>
          <p:nvPr/>
        </p:nvSpPr>
        <p:spPr>
          <a:xfrm>
            <a:off x="5760720" y="2286000"/>
            <a:ext cx="6216840" cy="82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5897880" y="2359080"/>
            <a:ext cx="5988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8b949e"/>
                </a:solidFill>
                <a:latin typeface="Consolas"/>
                <a:ea typeface="Consolas"/>
              </a:rPr>
              <a:t>payload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5897880" y="2697480"/>
            <a:ext cx="5988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HTTP запрос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548640" y="365760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392" strike="noStrike">
                <a:solidFill>
                  <a:srgbClr val="00d9b8"/>
                </a:solidFill>
                <a:latin typeface="Consolas"/>
                <a:ea typeface="Consolas"/>
              </a:rPr>
              <a:t>С VPN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548640" y="4114800"/>
            <a:ext cx="2650680" cy="82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685800" y="4187880"/>
            <a:ext cx="2422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7c3aed"/>
                </a:solidFill>
                <a:latin typeface="Consolas"/>
                <a:ea typeface="Consolas"/>
              </a:rPr>
              <a:t>IP hdr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685800" y="4526280"/>
            <a:ext cx="2422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me → VPN-сервер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3246120" y="4114800"/>
            <a:ext cx="1187640" cy="82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3383280" y="4187880"/>
            <a:ext cx="959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00d9b8"/>
                </a:solidFill>
                <a:latin typeface="Consolas"/>
                <a:ea typeface="Consolas"/>
              </a:rPr>
              <a:t>UDP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3383280" y="4526280"/>
            <a:ext cx="959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:51820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4480560" y="4114800"/>
            <a:ext cx="1370520" cy="82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4617720" y="4187880"/>
            <a:ext cx="1141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d29922"/>
                </a:solidFill>
                <a:latin typeface="Consolas"/>
                <a:ea typeface="Consolas"/>
              </a:rPr>
              <a:t>WG hdr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3"/>
          <p:cNvSpPr/>
          <p:nvPr/>
        </p:nvSpPr>
        <p:spPr>
          <a:xfrm>
            <a:off x="4617720" y="4526280"/>
            <a:ext cx="1141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type/nonce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4"/>
          <p:cNvSpPr/>
          <p:nvPr/>
        </p:nvSpPr>
        <p:spPr>
          <a:xfrm>
            <a:off x="5897880" y="4114800"/>
            <a:ext cx="6125400" cy="821880"/>
          </a:xfrm>
          <a:prstGeom prst="rect">
            <a:avLst/>
          </a:prstGeom>
          <a:solidFill>
            <a:srgbClr val="1c2128"/>
          </a:solidFill>
          <a:ln w="254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6035040" y="4187880"/>
            <a:ext cx="5896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3fb950"/>
                </a:solidFill>
                <a:latin typeface="Consolas"/>
                <a:ea typeface="Consolas"/>
              </a:rPr>
              <a:t>ENCRYPTED  ·  { IP·TCP·payload }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6"/>
          <p:cNvSpPr/>
          <p:nvPr/>
        </p:nvSpPr>
        <p:spPr>
          <a:xfrm>
            <a:off x="6035040" y="4526280"/>
            <a:ext cx="5896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оригинальный пакет + тег 16 байт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Image 0" descr="preencoded.png"/>
          <p:cNvPicPr/>
          <p:nvPr/>
        </p:nvPicPr>
        <p:blipFill>
          <a:blip r:embed="rId1"/>
          <a:stretch/>
        </p:blipFill>
        <p:spPr>
          <a:xfrm>
            <a:off x="11338560" y="3657600"/>
            <a:ext cx="318960" cy="318960"/>
          </a:xfrm>
          <a:prstGeom prst="rect">
            <a:avLst/>
          </a:prstGeom>
          <a:ln w="0">
            <a:noFill/>
          </a:ln>
        </p:spPr>
      </p:pic>
      <p:sp>
        <p:nvSpPr>
          <p:cNvPr id="130" name="Text 27"/>
          <p:cNvSpPr/>
          <p:nvPr/>
        </p:nvSpPr>
        <p:spPr>
          <a:xfrm>
            <a:off x="9875520" y="370332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зашифровано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28"/>
          <p:cNvSpPr/>
          <p:nvPr/>
        </p:nvSpPr>
        <p:spPr>
          <a:xfrm>
            <a:off x="548640" y="5486400"/>
            <a:ext cx="1106316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731520" y="5532120"/>
            <a:ext cx="10697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Что видит провайдер: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клиент ↔ VPN-сервер, UDP на 51820, какие-то зашифрованные байты.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Что летит внутри — </a:t>
            </a:r>
            <a:r>
              <a:rPr b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неизвестно.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Сервер расшифровывает и отправляет пакет от своего имени.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06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3  ·  ОС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Как ОС реализует: виртуальный интерфейс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548640" y="1691640"/>
            <a:ext cx="109717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Программа не может «перехватить весь трафик». Вместо этого ОС предоставляет виртуальную сетевую карту — TUN / TAP. Ядро думает, что она настоящая, и отдаёт в неё пакеты.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548640" y="2697480"/>
            <a:ext cx="5393880" cy="3565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548640" y="2697480"/>
            <a:ext cx="81360" cy="35650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914400" y="2834640"/>
            <a:ext cx="4113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00d9b8"/>
                </a:solidFill>
                <a:latin typeface="Arial Black"/>
                <a:ea typeface="Arial Black"/>
              </a:rPr>
              <a:t>TUN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914400" y="3337560"/>
            <a:ext cx="4753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194" strike="noStrike">
                <a:solidFill>
                  <a:srgbClr val="8b949e"/>
                </a:solidFill>
                <a:latin typeface="Consolas"/>
                <a:ea typeface="Consolas"/>
              </a:rPr>
              <a:t>L3  ·  IP-ПАКЕТЫ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914400" y="3794760"/>
            <a:ext cx="4663440" cy="36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914400" y="3931920"/>
            <a:ext cx="47538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Программа читает и пишет сырые IP-пакеты. Заголовок IP + payload. Для всего, что работает поверх IP.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914400" y="5532120"/>
            <a:ext cx="4753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99% случаев — WireGuard, OpenVPN-TUN, все современные VPN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6217920" y="2697480"/>
            <a:ext cx="5393880" cy="3565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6217920" y="2697480"/>
            <a:ext cx="81360" cy="3565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6583680" y="2834640"/>
            <a:ext cx="4113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7c3aed"/>
                </a:solidFill>
                <a:latin typeface="Arial Black"/>
                <a:ea typeface="Arial Black"/>
              </a:rPr>
              <a:t>TAP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583680" y="3337560"/>
            <a:ext cx="4753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194" strike="noStrike">
                <a:solidFill>
                  <a:srgbClr val="8b949e"/>
                </a:solidFill>
                <a:latin typeface="Consolas"/>
                <a:ea typeface="Consolas"/>
              </a:rPr>
              <a:t>L2  ·  ETHERNET-ФРЕЙМЫ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6583680" y="3794760"/>
            <a:ext cx="4663440" cy="360"/>
          </a:xfrm>
          <a:prstGeom prst="line">
            <a:avLst/>
          </a:prstGeom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6583680" y="3931920"/>
            <a:ext cx="47538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Уровнем ниже: MAC-адреса, Ethernet-заголовки. Можно гонять не только IP, бриджить VM в общий LAN.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6583680" y="5532120"/>
            <a:ext cx="4753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Нужен редко — bridging, VM-окружения, не-IP протоколы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07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4  ·  ПУТЬ ПАКЕТА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Что происходит на запрос в браузере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640080" y="182880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640080" y="18288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1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1280160" y="173736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Приложение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3931920" y="173736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браузер делает connect() → ядро формирует TCP SYN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640080" y="256032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640080" y="256032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2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1280160" y="246888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Маршрутизация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3931920" y="246888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ядро видит: 0.0.0.0/0 → интерфейс wg0. Отдаёт пакет в wg0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640080" y="329184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640080" y="32918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3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1280160" y="320040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Читаем из TUN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3931920" y="320040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VPN-программа читает IP-пакет целиком (header + TCP payload)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640080" y="402336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640080" y="40233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4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1280160" y="393192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Шифрование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3931920" y="393192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сессионным ключом (ChaCha20-Poly1305 AEAD) + 16 байт тег аутентификации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20"/>
          <p:cNvSpPr/>
          <p:nvPr/>
        </p:nvSpPr>
        <p:spPr>
          <a:xfrm>
            <a:off x="640080" y="475488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640080" y="475488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5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1280160" y="466344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WireGuard header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3931920" y="466344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type=4 (data), reserved, receiver_index, counter (nonce) — 16 байт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24"/>
          <p:cNvSpPr/>
          <p:nvPr/>
        </p:nvSpPr>
        <p:spPr>
          <a:xfrm>
            <a:off x="640080" y="548640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640080" y="54864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6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1280160" y="539496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UDP wrap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3931920" y="539496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шифротекст + тег кладётся в UDP, порт назначения 51820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548640" y="621792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6e7681"/>
                </a:solidFill>
                <a:latin typeface="Consolas"/>
                <a:ea typeface="Consolas"/>
              </a:rPr>
              <a:t>продолжение на следующем слайде  →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08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4  ·  ПУТЬ ПАКЕТА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…</a:t>
            </a: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и обратно в приложение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640080" y="182880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640080" y="18288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7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1280160" y="173736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Внешний IP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3931920" y="173736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IP-заголовок: ваш реальный IP → IP VPN-сервера. Опять полноценный IP-пакет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640080" y="256032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640080" y="256032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8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1280160" y="246888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Второй routing lookup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3931920" y="246888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ядро отдаёт этот пакет в eth0 (исключение для адреса сервера — иначе петля)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640080" y="329184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640080" y="32918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9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1280160" y="320040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Физическая отправка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3931920" y="320040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через реальную сетевую карту → дом-роутер → провайдер → интернет → сервер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640080" y="402336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7"/>
          <p:cNvSpPr/>
          <p:nvPr/>
        </p:nvSpPr>
        <p:spPr>
          <a:xfrm>
            <a:off x="640080" y="40233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10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8"/>
          <p:cNvSpPr/>
          <p:nvPr/>
        </p:nvSpPr>
        <p:spPr>
          <a:xfrm>
            <a:off x="1280160" y="393192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На сервере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3931920" y="393192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UDP:51820, WG-демон проверяет counter (anti-replay), расшифровывает, получает ваш внутренний пакет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640080" y="475488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640080" y="475488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11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1280160" y="466344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Source NAT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3"/>
          <p:cNvSpPr/>
          <p:nvPr/>
        </p:nvSpPr>
        <p:spPr>
          <a:xfrm>
            <a:off x="3931920" y="466344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сервер меняет src IP на свой, форвардит в интернет. Google видит только IP сервера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24"/>
          <p:cNvSpPr/>
          <p:nvPr/>
        </p:nvSpPr>
        <p:spPr>
          <a:xfrm>
            <a:off x="640080" y="5486400"/>
            <a:ext cx="456120" cy="4561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5"/>
          <p:cNvSpPr/>
          <p:nvPr/>
        </p:nvSpPr>
        <p:spPr>
          <a:xfrm>
            <a:off x="640080" y="54864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12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6"/>
          <p:cNvSpPr/>
          <p:nvPr/>
        </p:nvSpPr>
        <p:spPr>
          <a:xfrm>
            <a:off x="1280160" y="539496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Обратный путь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3931920" y="539496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Google → сервер → шифрование → UDP → вам → дешифрование → wg0 → браузер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28"/>
          <p:cNvSpPr/>
          <p:nvPr/>
        </p:nvSpPr>
        <p:spPr>
          <a:xfrm>
            <a:off x="548640" y="6035040"/>
            <a:ext cx="11063160" cy="501840"/>
          </a:xfrm>
          <a:prstGeom prst="rect">
            <a:avLst/>
          </a:prstGeom>
          <a:solidFill>
            <a:srgbClr val="1c2128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9"/>
          <p:cNvSpPr/>
          <p:nvPr/>
        </p:nvSpPr>
        <p:spPr>
          <a:xfrm>
            <a:off x="777240" y="6035040"/>
            <a:ext cx="10788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d29922"/>
                </a:solidFill>
                <a:latin typeface="Calibri"/>
                <a:ea typeface="Calibri"/>
              </a:rPr>
              <a:t>Цена удобства: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каждый пакет </a:t>
            </a:r>
            <a:r>
              <a:rPr b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+60 байт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 overhead  (20 IP + 8 UDP + 16 WG + 16 AEAD tag). Отсюда — проблема MTU.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09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5  ·  HANDSHAKE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Как происходит обмен ключами?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548640" y="1737360"/>
            <a:ext cx="11063160" cy="127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2" name="Image 0" descr="preencoded.png"/>
          <p:cNvPicPr/>
          <p:nvPr/>
        </p:nvPicPr>
        <p:blipFill>
          <a:blip r:embed="rId1"/>
          <a:stretch/>
        </p:blipFill>
        <p:spPr>
          <a:xfrm>
            <a:off x="777240" y="19659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213" name="Text 5"/>
          <p:cNvSpPr/>
          <p:nvPr/>
        </p:nvSpPr>
        <p:spPr>
          <a:xfrm>
            <a:off x="1417320" y="1783080"/>
            <a:ext cx="3656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293" strike="noStrike">
                <a:solidFill>
                  <a:srgbClr val="d29922"/>
                </a:solidFill>
                <a:latin typeface="Consolas"/>
                <a:ea typeface="Consolas"/>
              </a:rPr>
              <a:t>Проблема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1417320" y="2148840"/>
            <a:ext cx="98744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Шифрование происходит при помощи сессионного ключа. А где ключ? Клиент и сервер — в разных точках интернета. Любой посредник может слушать весь обмен. Как они договорятся о секрете так, чтобы посредник его НЕ узнал?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548640" y="333756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392" strike="noStrike">
                <a:solidFill>
                  <a:srgbClr val="00d9b8"/>
                </a:solidFill>
                <a:latin typeface="Consolas"/>
                <a:ea typeface="Consolas"/>
              </a:rPr>
              <a:t>РЕШЕНИЕ — МАТЕМАТИКА 1976 ГОДА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548640" y="3749040"/>
            <a:ext cx="11063160" cy="2650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822960" y="3886200"/>
            <a:ext cx="5485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ru-RU" sz="2200" spc="-1" strike="noStrike">
                <a:solidFill>
                  <a:srgbClr val="e6edf3"/>
                </a:solidFill>
                <a:latin typeface="Arial Black"/>
                <a:ea typeface="Arial Black"/>
              </a:rPr>
              <a:t>Diffie–Hellman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822960" y="429768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onsolas"/>
                <a:ea typeface="Consolas"/>
              </a:rPr>
              <a:t>key exchange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1"/>
          <p:cNvSpPr/>
          <p:nvPr/>
        </p:nvSpPr>
        <p:spPr>
          <a:xfrm>
            <a:off x="822960" y="4800600"/>
            <a:ext cx="913320" cy="913320"/>
          </a:xfrm>
          <a:prstGeom prst="ellipse">
            <a:avLst/>
          </a:prstGeom>
          <a:solidFill>
            <a:srgbClr val="1c2128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822960" y="4800600"/>
            <a:ext cx="9133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00d9b8"/>
                </a:solidFill>
                <a:latin typeface="Arial Black"/>
                <a:ea typeface="Arial Black"/>
              </a:rPr>
              <a:t>Alice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457200" y="5760720"/>
            <a:ext cx="1644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секрет  a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10424160" y="4800600"/>
            <a:ext cx="913320" cy="913320"/>
          </a:xfrm>
          <a:prstGeom prst="ellipse">
            <a:avLst/>
          </a:prstGeom>
          <a:solidFill>
            <a:srgbClr val="1c2128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10424160" y="4800600"/>
            <a:ext cx="9133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7c3aed"/>
                </a:solidFill>
                <a:latin typeface="Arial Black"/>
                <a:ea typeface="Arial Black"/>
              </a:rPr>
              <a:t>Bob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10058400" y="5760720"/>
            <a:ext cx="1644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секрет  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1920240" y="4892040"/>
            <a:ext cx="8411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d9b8"/>
                </a:solidFill>
                <a:latin typeface="Consolas"/>
                <a:ea typeface="Consolas"/>
              </a:rPr>
              <a:t>→   </a:t>
            </a:r>
            <a:r>
              <a:rPr b="0" lang="ru-RU" sz="1400" spc="-1" strike="noStrike">
                <a:solidFill>
                  <a:srgbClr val="00d9b8"/>
                </a:solidFill>
                <a:latin typeface="Consolas"/>
                <a:ea typeface="Consolas"/>
              </a:rPr>
              <a:t>A = g^a   →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8"/>
          <p:cNvSpPr/>
          <p:nvPr/>
        </p:nvSpPr>
        <p:spPr>
          <a:xfrm>
            <a:off x="1920240" y="5257800"/>
            <a:ext cx="8411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7c3aed"/>
                </a:solidFill>
                <a:latin typeface="Consolas"/>
                <a:ea typeface="Consolas"/>
              </a:rPr>
              <a:t>←   </a:t>
            </a:r>
            <a:r>
              <a:rPr b="0" lang="ru-RU" sz="1400" spc="-1" strike="noStrike">
                <a:solidFill>
                  <a:srgbClr val="7c3aed"/>
                </a:solidFill>
                <a:latin typeface="Consolas"/>
                <a:ea typeface="Consolas"/>
              </a:rPr>
              <a:t>B = g^b   ←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1920240" y="5669280"/>
            <a:ext cx="8411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3fb950"/>
                </a:solidFill>
                <a:latin typeface="Consolas"/>
                <a:ea typeface="Consolas"/>
              </a:rPr>
              <a:t>B^a  ≡  A^b   (mod p)  =   общий секрет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548640" y="6309360"/>
            <a:ext cx="11063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Современные VPN — X25519 (эллиптическая кривая Curve25519, RFC 7748). Быстрее и безопаснее классического DH.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10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5  ·  HANDSHAKE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WireGuard — два сообщения, всё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548640" y="1691640"/>
            <a:ext cx="1106316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731520" y="1691640"/>
            <a:ext cx="10514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00d9b8"/>
                </a:solidFill>
                <a:latin typeface="Consolas"/>
                <a:ea typeface="Consolas"/>
              </a:rPr>
              <a:t>Noise_IKpsk2_25519_ChaChaPoly_BLAKE2s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548640" y="242316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IK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1920240" y="242316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клиент знает публичный ключ сервера заранее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6263640" y="242316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psk2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7635240" y="242316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опциональный pre-shared key (post-quantum)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0"/>
          <p:cNvSpPr/>
          <p:nvPr/>
        </p:nvSpPr>
        <p:spPr>
          <a:xfrm>
            <a:off x="548640" y="274320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25519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1920240" y="274320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X25519 Diffie-Hellman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6263640" y="274320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ChaChaPoly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3"/>
          <p:cNvSpPr/>
          <p:nvPr/>
        </p:nvSpPr>
        <p:spPr>
          <a:xfrm>
            <a:off x="7635240" y="274320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ChaCha20-Poly1305 шифр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4"/>
          <p:cNvSpPr/>
          <p:nvPr/>
        </p:nvSpPr>
        <p:spPr>
          <a:xfrm>
            <a:off x="548640" y="306324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BLAKE2s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1920240" y="30632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хеширование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16"/>
          <p:cNvSpPr/>
          <p:nvPr/>
        </p:nvSpPr>
        <p:spPr>
          <a:xfrm>
            <a:off x="548640" y="3840480"/>
            <a:ext cx="5485320" cy="2284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17"/>
          <p:cNvSpPr/>
          <p:nvPr/>
        </p:nvSpPr>
        <p:spPr>
          <a:xfrm>
            <a:off x="548640" y="3840480"/>
            <a:ext cx="81360" cy="228492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8"/>
          <p:cNvSpPr/>
          <p:nvPr/>
        </p:nvSpPr>
        <p:spPr>
          <a:xfrm>
            <a:off x="777240" y="397764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392" strike="noStrike">
                <a:solidFill>
                  <a:srgbClr val="00d9b8"/>
                </a:solidFill>
                <a:latin typeface="Consolas"/>
                <a:ea typeface="Consolas"/>
              </a:rPr>
              <a:t>СООБЩЕНИЕ 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9"/>
          <p:cNvSpPr/>
          <p:nvPr/>
        </p:nvSpPr>
        <p:spPr>
          <a:xfrm>
            <a:off x="777240" y="4251960"/>
            <a:ext cx="5028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Initiation  ·  148 байт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0"/>
          <p:cNvSpPr/>
          <p:nvPr/>
        </p:nvSpPr>
        <p:spPr>
          <a:xfrm>
            <a:off x="777240" y="4617720"/>
            <a:ext cx="5028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client  →  server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21"/>
          <p:cNvSpPr/>
          <p:nvPr/>
        </p:nvSpPr>
        <p:spPr>
          <a:xfrm>
            <a:off x="777240" y="498348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·  временный публичный ключ клиента (32)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2"/>
          <p:cNvSpPr/>
          <p:nvPr/>
        </p:nvSpPr>
        <p:spPr>
          <a:xfrm>
            <a:off x="777240" y="525780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·  долгосрочный публичный ключ, encrypted (32+16)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23"/>
          <p:cNvSpPr/>
          <p:nvPr/>
        </p:nvSpPr>
        <p:spPr>
          <a:xfrm>
            <a:off x="777240" y="553212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·  timestamp, encrypted (12+16) — анти-replay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24"/>
          <p:cNvSpPr/>
          <p:nvPr/>
        </p:nvSpPr>
        <p:spPr>
          <a:xfrm>
            <a:off x="777240" y="580644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·  MAC-коды против DoS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25"/>
          <p:cNvSpPr/>
          <p:nvPr/>
        </p:nvSpPr>
        <p:spPr>
          <a:xfrm>
            <a:off x="6126480" y="3840480"/>
            <a:ext cx="5485320" cy="2284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26"/>
          <p:cNvSpPr/>
          <p:nvPr/>
        </p:nvSpPr>
        <p:spPr>
          <a:xfrm>
            <a:off x="6126480" y="3840480"/>
            <a:ext cx="81360" cy="2284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27"/>
          <p:cNvSpPr/>
          <p:nvPr/>
        </p:nvSpPr>
        <p:spPr>
          <a:xfrm>
            <a:off x="6355080" y="397764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392" strike="noStrike">
                <a:solidFill>
                  <a:srgbClr val="7c3aed"/>
                </a:solidFill>
                <a:latin typeface="Consolas"/>
                <a:ea typeface="Consolas"/>
              </a:rPr>
              <a:t>СООБЩЕНИЕ 2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28"/>
          <p:cNvSpPr/>
          <p:nvPr/>
        </p:nvSpPr>
        <p:spPr>
          <a:xfrm>
            <a:off x="6355080" y="4251960"/>
            <a:ext cx="5028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Response  ·  92 байта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29"/>
          <p:cNvSpPr/>
          <p:nvPr/>
        </p:nvSpPr>
        <p:spPr>
          <a:xfrm>
            <a:off x="6355080" y="4617720"/>
            <a:ext cx="5028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server  →  client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0"/>
          <p:cNvSpPr/>
          <p:nvPr/>
        </p:nvSpPr>
        <p:spPr>
          <a:xfrm>
            <a:off x="6355080" y="498348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·  временный публичный ключ сервера (32)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31"/>
          <p:cNvSpPr/>
          <p:nvPr/>
        </p:nvSpPr>
        <p:spPr>
          <a:xfrm>
            <a:off x="6355080" y="525780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·  пустое зашифрованное поле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32"/>
          <p:cNvSpPr/>
          <p:nvPr/>
        </p:nvSpPr>
        <p:spPr>
          <a:xfrm>
            <a:off x="6355080" y="553212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   </a:t>
            </a: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(подтверждает владение ключом)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33"/>
          <p:cNvSpPr/>
          <p:nvPr/>
        </p:nvSpPr>
        <p:spPr>
          <a:xfrm>
            <a:off x="6355080" y="580644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·  MAC-коды против DoS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34"/>
          <p:cNvSpPr/>
          <p:nvPr/>
        </p:nvSpPr>
        <p:spPr>
          <a:xfrm>
            <a:off x="548640" y="6263640"/>
            <a:ext cx="1106316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35"/>
          <p:cNvSpPr/>
          <p:nvPr/>
        </p:nvSpPr>
        <p:spPr>
          <a:xfrm>
            <a:off x="777240" y="6263640"/>
            <a:ext cx="10788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3fb950"/>
                </a:solidFill>
                <a:latin typeface="Calibri"/>
                <a:ea typeface="Calibri"/>
              </a:rPr>
              <a:t>1-RTT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  ·  нет переговоров о шифрах (нет downgrade)  ·  формально верифицирован INRIA 2018  ·  ~4000 строк C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11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5  ·  HANDSHAKE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Для сравнения — IPsec IKEv2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48640" y="173736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293" strike="noStrike">
                <a:solidFill>
                  <a:srgbClr val="d29922"/>
                </a:solidFill>
                <a:latin typeface="Consolas"/>
                <a:ea typeface="Consolas"/>
              </a:rPr>
              <a:t>IKEv2 — три обмена, RFC 7296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548640" y="2240280"/>
            <a:ext cx="547560" cy="54756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548640" y="224028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d29922"/>
                </a:solidFill>
                <a:latin typeface="Arial Black"/>
                <a:ea typeface="Arial Black"/>
              </a:rPr>
              <a:t>1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1280160" y="224028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Consolas"/>
                <a:ea typeface="Consolas"/>
              </a:rPr>
              <a:t>IKE_SA_INIT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1280160" y="260604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Обмен списками шифров, Diffie-Hellman, nonces. Договорились об алгоритмах, сгенерировали первые ключи.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548640" y="3246120"/>
            <a:ext cx="547560" cy="54756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548640" y="324612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d29922"/>
                </a:solidFill>
                <a:latin typeface="Arial Black"/>
                <a:ea typeface="Arial Black"/>
              </a:rPr>
              <a:t>2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1280160" y="32461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Consolas"/>
                <a:ea typeface="Consolas"/>
              </a:rPr>
              <a:t>IKE_AUTH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1280160" y="361188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Под защитой ключей обменялись идентификаторами (сертификаты / PSK). Проверили подлинность. Создали первый Child SA — ключи для реальных данных.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548640" y="4434840"/>
            <a:ext cx="547560" cy="54756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548640" y="443484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d29922"/>
                </a:solidFill>
                <a:latin typeface="Arial Black"/>
                <a:ea typeface="Arial Black"/>
              </a:rPr>
              <a:t>3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1280160" y="443484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Consolas"/>
                <a:ea typeface="Consolas"/>
              </a:rPr>
              <a:t>CREATE_CHILD_SA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1280160" y="480060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Перегенерация ключей или создание дополнительных SA. После этого — уже шифрование данных через ESP (RFC 4303).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17"/>
          <p:cNvSpPr/>
          <p:nvPr/>
        </p:nvSpPr>
        <p:spPr>
          <a:xfrm>
            <a:off x="548640" y="5394960"/>
            <a:ext cx="11063160" cy="1187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8"/>
          <p:cNvSpPr/>
          <p:nvPr/>
        </p:nvSpPr>
        <p:spPr>
          <a:xfrm>
            <a:off x="731520" y="544068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194" strike="noStrike">
                <a:solidFill>
                  <a:srgbClr val="00d9b8"/>
                </a:solidFill>
                <a:latin typeface="Consolas"/>
                <a:ea typeface="Consolas"/>
              </a:rPr>
              <a:t>ESP packet format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9"/>
          <p:cNvSpPr/>
          <p:nvPr/>
        </p:nvSpPr>
        <p:spPr>
          <a:xfrm>
            <a:off x="731520" y="5760720"/>
            <a:ext cx="1187640" cy="68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731520" y="582480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e6edf3"/>
                </a:solidFill>
                <a:latin typeface="Consolas"/>
                <a:ea typeface="Consolas"/>
              </a:rPr>
              <a:t>SPI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731520" y="612648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-1" strike="noStrike">
                <a:solidFill>
                  <a:srgbClr val="8b949e"/>
                </a:solidFill>
                <a:latin typeface="Consolas"/>
                <a:ea typeface="Consolas"/>
              </a:rPr>
              <a:t>4B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22"/>
          <p:cNvSpPr/>
          <p:nvPr/>
        </p:nvSpPr>
        <p:spPr>
          <a:xfrm>
            <a:off x="1947600" y="5760720"/>
            <a:ext cx="1187640" cy="68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23"/>
          <p:cNvSpPr/>
          <p:nvPr/>
        </p:nvSpPr>
        <p:spPr>
          <a:xfrm>
            <a:off x="1947600" y="582480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e6edf3"/>
                </a:solidFill>
                <a:latin typeface="Consolas"/>
                <a:ea typeface="Consolas"/>
              </a:rPr>
              <a:t>SeqNum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1947600" y="612648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-1" strike="noStrike">
                <a:solidFill>
                  <a:srgbClr val="8b949e"/>
                </a:solidFill>
                <a:latin typeface="Consolas"/>
                <a:ea typeface="Consolas"/>
              </a:rPr>
              <a:t>4B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25"/>
          <p:cNvSpPr/>
          <p:nvPr/>
        </p:nvSpPr>
        <p:spPr>
          <a:xfrm>
            <a:off x="3163680" y="5760720"/>
            <a:ext cx="3199320" cy="68472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6"/>
          <p:cNvSpPr/>
          <p:nvPr/>
        </p:nvSpPr>
        <p:spPr>
          <a:xfrm>
            <a:off x="3163680" y="582480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3fb950"/>
                </a:solidFill>
                <a:latin typeface="Consolas"/>
                <a:ea typeface="Consolas"/>
              </a:rPr>
              <a:t>Payload (encrypted)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7"/>
          <p:cNvSpPr/>
          <p:nvPr/>
        </p:nvSpPr>
        <p:spPr>
          <a:xfrm>
            <a:off x="3163680" y="612648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-1" strike="noStrike">
                <a:solidFill>
                  <a:srgbClr val="8b949e"/>
                </a:solidFill>
                <a:latin typeface="Consolas"/>
                <a:ea typeface="Consolas"/>
              </a:rPr>
              <a:t>var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28"/>
          <p:cNvSpPr/>
          <p:nvPr/>
        </p:nvSpPr>
        <p:spPr>
          <a:xfrm>
            <a:off x="6391800" y="5760720"/>
            <a:ext cx="1187640" cy="68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29"/>
          <p:cNvSpPr/>
          <p:nvPr/>
        </p:nvSpPr>
        <p:spPr>
          <a:xfrm>
            <a:off x="6391800" y="582480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e6edf3"/>
                </a:solidFill>
                <a:latin typeface="Consolas"/>
                <a:ea typeface="Consolas"/>
              </a:rPr>
              <a:t>Pad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30"/>
          <p:cNvSpPr/>
          <p:nvPr/>
        </p:nvSpPr>
        <p:spPr>
          <a:xfrm>
            <a:off x="6391800" y="612648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-1" strike="noStrike">
                <a:solidFill>
                  <a:srgbClr val="8b949e"/>
                </a:solidFill>
                <a:latin typeface="Consolas"/>
                <a:ea typeface="Consolas"/>
              </a:rPr>
              <a:t>0-255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31"/>
          <p:cNvSpPr/>
          <p:nvPr/>
        </p:nvSpPr>
        <p:spPr>
          <a:xfrm>
            <a:off x="7607880" y="5760720"/>
            <a:ext cx="1187640" cy="68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32"/>
          <p:cNvSpPr/>
          <p:nvPr/>
        </p:nvSpPr>
        <p:spPr>
          <a:xfrm>
            <a:off x="7607880" y="582480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e6edf3"/>
                </a:solidFill>
                <a:latin typeface="Consolas"/>
                <a:ea typeface="Consolas"/>
              </a:rPr>
              <a:t>PadLen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33"/>
          <p:cNvSpPr/>
          <p:nvPr/>
        </p:nvSpPr>
        <p:spPr>
          <a:xfrm>
            <a:off x="7607880" y="612648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-1" strike="noStrike">
                <a:solidFill>
                  <a:srgbClr val="8b949e"/>
                </a:solidFill>
                <a:latin typeface="Consolas"/>
                <a:ea typeface="Consolas"/>
              </a:rPr>
              <a:t>1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34"/>
          <p:cNvSpPr/>
          <p:nvPr/>
        </p:nvSpPr>
        <p:spPr>
          <a:xfrm>
            <a:off x="8823960" y="5760720"/>
            <a:ext cx="1187640" cy="68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35"/>
          <p:cNvSpPr/>
          <p:nvPr/>
        </p:nvSpPr>
        <p:spPr>
          <a:xfrm>
            <a:off x="8823960" y="582480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e6edf3"/>
                </a:solidFill>
                <a:latin typeface="Consolas"/>
                <a:ea typeface="Consolas"/>
              </a:rPr>
              <a:t>NextHdr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6"/>
          <p:cNvSpPr/>
          <p:nvPr/>
        </p:nvSpPr>
        <p:spPr>
          <a:xfrm>
            <a:off x="8823960" y="612648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-1" strike="noStrike">
                <a:solidFill>
                  <a:srgbClr val="8b949e"/>
                </a:solidFill>
                <a:latin typeface="Consolas"/>
                <a:ea typeface="Consolas"/>
              </a:rPr>
              <a:t>1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37"/>
          <p:cNvSpPr/>
          <p:nvPr/>
        </p:nvSpPr>
        <p:spPr>
          <a:xfrm>
            <a:off x="10040040" y="5760720"/>
            <a:ext cx="1187640" cy="68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38"/>
          <p:cNvSpPr/>
          <p:nvPr/>
        </p:nvSpPr>
        <p:spPr>
          <a:xfrm>
            <a:off x="10040040" y="582480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e6edf3"/>
                </a:solidFill>
                <a:latin typeface="Consolas"/>
                <a:ea typeface="Consolas"/>
              </a:rPr>
              <a:t>ICV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39"/>
          <p:cNvSpPr/>
          <p:nvPr/>
        </p:nvSpPr>
        <p:spPr>
          <a:xfrm>
            <a:off x="10040040" y="612648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-1" strike="noStrike">
                <a:solidFill>
                  <a:srgbClr val="8b949e"/>
                </a:solidFill>
                <a:latin typeface="Consolas"/>
                <a:ea typeface="Consolas"/>
              </a:rPr>
              <a:t>16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12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6  ·  КЛАССИФИКАЦИЯ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На каком уровне OSI работает каждый протокол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548640" y="169164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Протоколы классифицируют по тому, что именно они инкапсулируют.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548640" y="2286000"/>
            <a:ext cx="821880" cy="867600"/>
          </a:xfrm>
          <a:prstGeom prst="rect">
            <a:avLst/>
          </a:prstGeom>
          <a:solidFill>
            <a:srgbClr val="1c2128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548640" y="2286000"/>
            <a:ext cx="8218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7c3aed"/>
                </a:solidFill>
                <a:latin typeface="Arial Black"/>
                <a:ea typeface="Arial Black"/>
              </a:rPr>
              <a:t>L7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1554480" y="2286000"/>
            <a:ext cx="22849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e6edf3"/>
                </a:solidFill>
                <a:latin typeface="Arial Black"/>
                <a:ea typeface="Arial Black"/>
              </a:rPr>
              <a:t>Application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3931920" y="2286000"/>
            <a:ext cx="29250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6e7681"/>
                </a:solidFill>
                <a:latin typeface="Calibri"/>
                <a:ea typeface="Calibri"/>
              </a:rPr>
              <a:t>заворачивает  </a:t>
            </a: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HTTPS-сессию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6949440" y="2286000"/>
            <a:ext cx="4845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7c3aed"/>
                </a:solidFill>
                <a:latin typeface="Consolas"/>
                <a:ea typeface="Consolas"/>
              </a:rPr>
              <a:t>SSL/TLS VPN · SoftEther · MASQUE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10"/>
          <p:cNvSpPr/>
          <p:nvPr/>
        </p:nvSpPr>
        <p:spPr>
          <a:xfrm>
            <a:off x="548640" y="3264480"/>
            <a:ext cx="821880" cy="867600"/>
          </a:xfrm>
          <a:prstGeom prst="rect">
            <a:avLst/>
          </a:prstGeom>
          <a:solidFill>
            <a:srgbClr val="1c2128"/>
          </a:solidFill>
          <a:ln w="1905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548640" y="3264480"/>
            <a:ext cx="8218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ff8c42"/>
                </a:solidFill>
                <a:latin typeface="Arial Black"/>
                <a:ea typeface="Arial Black"/>
              </a:rPr>
              <a:t>L4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2"/>
          <p:cNvSpPr/>
          <p:nvPr/>
        </p:nvSpPr>
        <p:spPr>
          <a:xfrm>
            <a:off x="1554480" y="3264480"/>
            <a:ext cx="22849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e6edf3"/>
                </a:solidFill>
                <a:latin typeface="Arial Black"/>
                <a:ea typeface="Arial Black"/>
              </a:rPr>
              <a:t>Transport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3"/>
          <p:cNvSpPr/>
          <p:nvPr/>
        </p:nvSpPr>
        <p:spPr>
          <a:xfrm>
            <a:off x="3931920" y="3264480"/>
            <a:ext cx="29250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6e7681"/>
                </a:solidFill>
                <a:latin typeface="Calibri"/>
                <a:ea typeface="Calibri"/>
              </a:rPr>
              <a:t>заворачивает  </a:t>
            </a: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TCP / UDP-поток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6949440" y="3264480"/>
            <a:ext cx="4845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ff8c42"/>
                </a:solidFill>
                <a:latin typeface="Consolas"/>
                <a:ea typeface="Consolas"/>
              </a:rPr>
              <a:t>SSTP (HTTPS) · OpenVPN-TCP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5"/>
          <p:cNvSpPr/>
          <p:nvPr/>
        </p:nvSpPr>
        <p:spPr>
          <a:xfrm>
            <a:off x="548640" y="4242960"/>
            <a:ext cx="821880" cy="867600"/>
          </a:xfrm>
          <a:prstGeom prst="rect">
            <a:avLst/>
          </a:prstGeom>
          <a:solidFill>
            <a:srgbClr val="1c2128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16"/>
          <p:cNvSpPr/>
          <p:nvPr/>
        </p:nvSpPr>
        <p:spPr>
          <a:xfrm>
            <a:off x="548640" y="4242960"/>
            <a:ext cx="8218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00d9b8"/>
                </a:solidFill>
                <a:latin typeface="Arial Black"/>
                <a:ea typeface="Arial Black"/>
              </a:rPr>
              <a:t>L3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7"/>
          <p:cNvSpPr/>
          <p:nvPr/>
        </p:nvSpPr>
        <p:spPr>
          <a:xfrm>
            <a:off x="1554480" y="4242960"/>
            <a:ext cx="22849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e6edf3"/>
                </a:solidFill>
                <a:latin typeface="Arial Black"/>
                <a:ea typeface="Arial Black"/>
              </a:rPr>
              <a:t>Network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8"/>
          <p:cNvSpPr/>
          <p:nvPr/>
        </p:nvSpPr>
        <p:spPr>
          <a:xfrm>
            <a:off x="3931920" y="4242960"/>
            <a:ext cx="29250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6e7681"/>
                </a:solidFill>
                <a:latin typeface="Calibri"/>
                <a:ea typeface="Calibri"/>
              </a:rPr>
              <a:t>заворачивает  </a:t>
            </a: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IP-пакеты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9"/>
          <p:cNvSpPr/>
          <p:nvPr/>
        </p:nvSpPr>
        <p:spPr>
          <a:xfrm>
            <a:off x="6949440" y="4242960"/>
            <a:ext cx="4845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00d9b8"/>
                </a:solidFill>
                <a:latin typeface="Consolas"/>
                <a:ea typeface="Consolas"/>
              </a:rPr>
              <a:t>IPsec · WireGuard · OpenVPN-TUN · GRE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20"/>
          <p:cNvSpPr/>
          <p:nvPr/>
        </p:nvSpPr>
        <p:spPr>
          <a:xfrm>
            <a:off x="548640" y="5221080"/>
            <a:ext cx="821880" cy="86760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21"/>
          <p:cNvSpPr/>
          <p:nvPr/>
        </p:nvSpPr>
        <p:spPr>
          <a:xfrm>
            <a:off x="548640" y="5221080"/>
            <a:ext cx="8218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3fb950"/>
                </a:solidFill>
                <a:latin typeface="Arial Black"/>
                <a:ea typeface="Arial Black"/>
              </a:rPr>
              <a:t>L2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2"/>
          <p:cNvSpPr/>
          <p:nvPr/>
        </p:nvSpPr>
        <p:spPr>
          <a:xfrm>
            <a:off x="1554480" y="5221080"/>
            <a:ext cx="22849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e6edf3"/>
                </a:solidFill>
                <a:latin typeface="Arial Black"/>
                <a:ea typeface="Arial Black"/>
              </a:rPr>
              <a:t>Data Link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23"/>
          <p:cNvSpPr/>
          <p:nvPr/>
        </p:nvSpPr>
        <p:spPr>
          <a:xfrm>
            <a:off x="3931920" y="5221080"/>
            <a:ext cx="29250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6e7681"/>
                </a:solidFill>
                <a:latin typeface="Calibri"/>
                <a:ea typeface="Calibri"/>
              </a:rPr>
              <a:t>заворачивает  </a:t>
            </a: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Ethernet / PPP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4"/>
          <p:cNvSpPr/>
          <p:nvPr/>
        </p:nvSpPr>
        <p:spPr>
          <a:xfrm>
            <a:off x="6949440" y="5221080"/>
            <a:ext cx="4845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3fb950"/>
                </a:solidFill>
                <a:latin typeface="Consolas"/>
                <a:ea typeface="Consolas"/>
              </a:rPr>
              <a:t>PPTP · L2TPv3 · OpenVPN-TAP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5"/>
          <p:cNvSpPr/>
          <p:nvPr/>
        </p:nvSpPr>
        <p:spPr>
          <a:xfrm>
            <a:off x="548640" y="5989320"/>
            <a:ext cx="11063160" cy="547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26"/>
          <p:cNvSpPr/>
          <p:nvPr/>
        </p:nvSpPr>
        <p:spPr>
          <a:xfrm>
            <a:off x="777240" y="5989320"/>
            <a:ext cx="10788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По архитектуре: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site-to-site </a:t>
            </a: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(офис-офис)  · 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remote access </a:t>
            </a: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(клиент-сервер)  · 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mesh </a:t>
            </a: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(каждый с каждым напрямую — Tailscale)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13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6  ·  КЛАССИФИКАЦИЯ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Главные протоколы — краткий обзор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4"/>
          <p:cNvSpPr/>
          <p:nvPr/>
        </p:nvSpPr>
        <p:spPr>
          <a:xfrm>
            <a:off x="548640" y="1737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5"/>
          <p:cNvSpPr/>
          <p:nvPr/>
        </p:nvSpPr>
        <p:spPr>
          <a:xfrm>
            <a:off x="548640" y="1737360"/>
            <a:ext cx="81360" cy="10047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822960" y="1828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PPTP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7"/>
          <p:cNvSpPr/>
          <p:nvPr/>
        </p:nvSpPr>
        <p:spPr>
          <a:xfrm>
            <a:off x="822960" y="2194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1999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8"/>
          <p:cNvSpPr/>
          <p:nvPr/>
        </p:nvSpPr>
        <p:spPr>
          <a:xfrm>
            <a:off x="3977640" y="1856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f85149"/>
                </a:solidFill>
                <a:latin typeface="Consolas"/>
                <a:ea typeface="Consolas"/>
              </a:rPr>
              <a:t>СЛОМАН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9"/>
          <p:cNvSpPr/>
          <p:nvPr/>
        </p:nvSpPr>
        <p:spPr>
          <a:xfrm>
            <a:off x="822960" y="2450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MS-CHAPv2 взломан Moxie Marlinspike на DEF CON 20 (2012). Microsoft deprecated в окт 2024.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10"/>
          <p:cNvSpPr/>
          <p:nvPr/>
        </p:nvSpPr>
        <p:spPr>
          <a:xfrm>
            <a:off x="6217920" y="1737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11"/>
          <p:cNvSpPr/>
          <p:nvPr/>
        </p:nvSpPr>
        <p:spPr>
          <a:xfrm>
            <a:off x="6217920" y="1737360"/>
            <a:ext cx="81360" cy="100476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2"/>
          <p:cNvSpPr/>
          <p:nvPr/>
        </p:nvSpPr>
        <p:spPr>
          <a:xfrm>
            <a:off x="6492240" y="1828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L2TP / IPsec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3"/>
          <p:cNvSpPr/>
          <p:nvPr/>
        </p:nvSpPr>
        <p:spPr>
          <a:xfrm>
            <a:off x="6492240" y="2194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2000-е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4"/>
          <p:cNvSpPr/>
          <p:nvPr/>
        </p:nvSpPr>
        <p:spPr>
          <a:xfrm>
            <a:off x="9646920" y="1856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d29922"/>
                </a:solidFill>
                <a:latin typeface="Consolas"/>
                <a:ea typeface="Consolas"/>
              </a:rPr>
              <a:t>LEGACY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5"/>
          <p:cNvSpPr/>
          <p:nvPr/>
        </p:nvSpPr>
        <p:spPr>
          <a:xfrm>
            <a:off x="6492240" y="2450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L2TP сам не шифрует, заворачивается в IPsec. Старый корп-стандарт, вытесняется.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16"/>
          <p:cNvSpPr/>
          <p:nvPr/>
        </p:nvSpPr>
        <p:spPr>
          <a:xfrm>
            <a:off x="548640" y="2880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17"/>
          <p:cNvSpPr/>
          <p:nvPr/>
        </p:nvSpPr>
        <p:spPr>
          <a:xfrm>
            <a:off x="548640" y="2880360"/>
            <a:ext cx="81360" cy="100476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18"/>
          <p:cNvSpPr/>
          <p:nvPr/>
        </p:nvSpPr>
        <p:spPr>
          <a:xfrm>
            <a:off x="822960" y="2971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IPsec / IKEv2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9"/>
          <p:cNvSpPr/>
          <p:nvPr/>
        </p:nvSpPr>
        <p:spPr>
          <a:xfrm>
            <a:off x="822960" y="3337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RFC 7296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20"/>
          <p:cNvSpPr/>
          <p:nvPr/>
        </p:nvSpPr>
        <p:spPr>
          <a:xfrm>
            <a:off x="3977640" y="2999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00d9b8"/>
                </a:solidFill>
                <a:latin typeface="Consolas"/>
                <a:ea typeface="Consolas"/>
              </a:rPr>
              <a:t>КОРП-СТАНДАРТ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21"/>
          <p:cNvSpPr/>
          <p:nvPr/>
        </p:nvSpPr>
        <p:spPr>
          <a:xfrm>
            <a:off x="822960" y="3593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Нативный в Windows/macOS/iOS. Сложный, но гибкий. strongSwan, Libreswan.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22"/>
          <p:cNvSpPr/>
          <p:nvPr/>
        </p:nvSpPr>
        <p:spPr>
          <a:xfrm>
            <a:off x="6217920" y="2880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23"/>
          <p:cNvSpPr/>
          <p:nvPr/>
        </p:nvSpPr>
        <p:spPr>
          <a:xfrm>
            <a:off x="6217920" y="2880360"/>
            <a:ext cx="81360" cy="100476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24"/>
          <p:cNvSpPr/>
          <p:nvPr/>
        </p:nvSpPr>
        <p:spPr>
          <a:xfrm>
            <a:off x="6492240" y="2971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OpenVPN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25"/>
          <p:cNvSpPr/>
          <p:nvPr/>
        </p:nvSpPr>
        <p:spPr>
          <a:xfrm>
            <a:off x="6492240" y="3337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2001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6"/>
          <p:cNvSpPr/>
          <p:nvPr/>
        </p:nvSpPr>
        <p:spPr>
          <a:xfrm>
            <a:off x="9646920" y="2999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00d9b8"/>
                </a:solidFill>
                <a:latin typeface="Consolas"/>
                <a:ea typeface="Consolas"/>
              </a:rPr>
              <a:t>КЛАССИКА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27"/>
          <p:cNvSpPr/>
          <p:nvPr/>
        </p:nvSpPr>
        <p:spPr>
          <a:xfrm>
            <a:off x="6492240" y="3593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TLS для handshake, кастом для данных. TCP/UDP. Десятки тысяч строк, зрелый.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8"/>
          <p:cNvSpPr/>
          <p:nvPr/>
        </p:nvSpPr>
        <p:spPr>
          <a:xfrm>
            <a:off x="548640" y="4023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29"/>
          <p:cNvSpPr/>
          <p:nvPr/>
        </p:nvSpPr>
        <p:spPr>
          <a:xfrm>
            <a:off x="548640" y="4023360"/>
            <a:ext cx="81360" cy="10047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30"/>
          <p:cNvSpPr/>
          <p:nvPr/>
        </p:nvSpPr>
        <p:spPr>
          <a:xfrm>
            <a:off x="822960" y="4114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WireGuard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31"/>
          <p:cNvSpPr/>
          <p:nvPr/>
        </p:nvSpPr>
        <p:spPr>
          <a:xfrm>
            <a:off x="822960" y="4480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2020, kernel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32"/>
          <p:cNvSpPr/>
          <p:nvPr/>
        </p:nvSpPr>
        <p:spPr>
          <a:xfrm>
            <a:off x="3977640" y="4142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3fb950"/>
                </a:solidFill>
                <a:latin typeface="Consolas"/>
                <a:ea typeface="Consolas"/>
              </a:rPr>
              <a:t>СОВРЕМЕННЫЙ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33"/>
          <p:cNvSpPr/>
          <p:nvPr/>
        </p:nvSpPr>
        <p:spPr>
          <a:xfrm>
            <a:off x="822960" y="4736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Noise + ChaCha20-Poly1305 + X25519. ~4000 строк. 1-RTT handshake. Linus: «work of art».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34"/>
          <p:cNvSpPr/>
          <p:nvPr/>
        </p:nvSpPr>
        <p:spPr>
          <a:xfrm>
            <a:off x="6217920" y="4023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35"/>
          <p:cNvSpPr/>
          <p:nvPr/>
        </p:nvSpPr>
        <p:spPr>
          <a:xfrm>
            <a:off x="6217920" y="4023360"/>
            <a:ext cx="81360" cy="100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36"/>
          <p:cNvSpPr/>
          <p:nvPr/>
        </p:nvSpPr>
        <p:spPr>
          <a:xfrm>
            <a:off x="6492240" y="4114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SSTP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37"/>
          <p:cNvSpPr/>
          <p:nvPr/>
        </p:nvSpPr>
        <p:spPr>
          <a:xfrm>
            <a:off x="6492240" y="4480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Microsoft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38"/>
          <p:cNvSpPr/>
          <p:nvPr/>
        </p:nvSpPr>
        <p:spPr>
          <a:xfrm>
            <a:off x="9646920" y="4142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7c3aed"/>
                </a:solidFill>
                <a:latin typeface="Consolas"/>
                <a:ea typeface="Consolas"/>
              </a:rPr>
              <a:t>NICHE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39"/>
          <p:cNvSpPr/>
          <p:nvPr/>
        </p:nvSpPr>
        <p:spPr>
          <a:xfrm>
            <a:off x="6492240" y="4736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PPP поверх HTTPS на TCP/443. Проходит любой файрвол. Вне Windows не встречается.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40"/>
          <p:cNvSpPr/>
          <p:nvPr/>
        </p:nvSpPr>
        <p:spPr>
          <a:xfrm>
            <a:off x="548640" y="5166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41"/>
          <p:cNvSpPr/>
          <p:nvPr/>
        </p:nvSpPr>
        <p:spPr>
          <a:xfrm>
            <a:off x="548640" y="5166360"/>
            <a:ext cx="81360" cy="10047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42"/>
          <p:cNvSpPr/>
          <p:nvPr/>
        </p:nvSpPr>
        <p:spPr>
          <a:xfrm>
            <a:off x="822960" y="5257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GRE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43"/>
          <p:cNvSpPr/>
          <p:nvPr/>
        </p:nvSpPr>
        <p:spPr>
          <a:xfrm>
            <a:off x="822960" y="5623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RFC 2784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44"/>
          <p:cNvSpPr/>
          <p:nvPr/>
        </p:nvSpPr>
        <p:spPr>
          <a:xfrm>
            <a:off x="3977640" y="5285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8b949e"/>
                </a:solidFill>
                <a:latin typeface="Consolas"/>
                <a:ea typeface="Consolas"/>
              </a:rPr>
              <a:t>ТРАНСПОРТ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45"/>
          <p:cNvSpPr/>
          <p:nvPr/>
        </p:nvSpPr>
        <p:spPr>
          <a:xfrm>
            <a:off x="822960" y="5879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Сам не шифрует, просто инкапсулирует. Часто GRE-over-IPsec.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46"/>
          <p:cNvSpPr/>
          <p:nvPr/>
        </p:nvSpPr>
        <p:spPr>
          <a:xfrm>
            <a:off x="6217920" y="5166360"/>
            <a:ext cx="5531040" cy="1004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47"/>
          <p:cNvSpPr/>
          <p:nvPr/>
        </p:nvSpPr>
        <p:spPr>
          <a:xfrm>
            <a:off x="6217920" y="5166360"/>
            <a:ext cx="81360" cy="10047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48"/>
          <p:cNvSpPr/>
          <p:nvPr/>
        </p:nvSpPr>
        <p:spPr>
          <a:xfrm>
            <a:off x="6492240" y="5257800"/>
            <a:ext cx="315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MPLS L3VPN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49"/>
          <p:cNvSpPr/>
          <p:nvPr/>
        </p:nvSpPr>
        <p:spPr>
          <a:xfrm>
            <a:off x="6492240" y="5623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RFC 4364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50"/>
          <p:cNvSpPr/>
          <p:nvPr/>
        </p:nvSpPr>
        <p:spPr>
          <a:xfrm>
            <a:off x="9646920" y="5285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293" strike="noStrike">
                <a:solidFill>
                  <a:srgbClr val="8b949e"/>
                </a:solidFill>
                <a:latin typeface="Consolas"/>
                <a:ea typeface="Consolas"/>
              </a:rPr>
              <a:t>ПРОВАЙДЕРСКИЙ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51"/>
          <p:cNvSpPr/>
          <p:nvPr/>
        </p:nvSpPr>
        <p:spPr>
          <a:xfrm>
            <a:off x="6492240" y="58795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Для телекомов, разделение трафика клиентов. Внутри доверенной сети, без шифра.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14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6  ·  СРАВНЕНИЕ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Сравнительная таблица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4"/>
          <p:cNvSpPr/>
          <p:nvPr/>
        </p:nvSpPr>
        <p:spPr>
          <a:xfrm>
            <a:off x="731520" y="1737360"/>
            <a:ext cx="2010600" cy="547560"/>
          </a:xfrm>
          <a:prstGeom prst="rect">
            <a:avLst/>
          </a:prstGeom>
          <a:solidFill>
            <a:srgbClr val="1c2128"/>
          </a:solidFill>
          <a:ln w="1016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5"/>
          <p:cNvSpPr/>
          <p:nvPr/>
        </p:nvSpPr>
        <p:spPr>
          <a:xfrm>
            <a:off x="731520" y="1737360"/>
            <a:ext cx="2010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5" name="Shape 6"/>
          <p:cNvSpPr/>
          <p:nvPr/>
        </p:nvSpPr>
        <p:spPr>
          <a:xfrm>
            <a:off x="2743200" y="1737360"/>
            <a:ext cx="1827720" cy="547560"/>
          </a:xfrm>
          <a:prstGeom prst="rect">
            <a:avLst/>
          </a:prstGeom>
          <a:solidFill>
            <a:srgbClr val="1c2128"/>
          </a:solidFill>
          <a:ln w="1016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7"/>
          <p:cNvSpPr/>
          <p:nvPr/>
        </p:nvSpPr>
        <p:spPr>
          <a:xfrm>
            <a:off x="2743200" y="1737360"/>
            <a:ext cx="1827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WireGuard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8"/>
          <p:cNvSpPr/>
          <p:nvPr/>
        </p:nvSpPr>
        <p:spPr>
          <a:xfrm>
            <a:off x="4572000" y="1737360"/>
            <a:ext cx="1827720" cy="547560"/>
          </a:xfrm>
          <a:prstGeom prst="rect">
            <a:avLst/>
          </a:prstGeom>
          <a:solidFill>
            <a:srgbClr val="1c2128"/>
          </a:solidFill>
          <a:ln w="1016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4572000" y="1737360"/>
            <a:ext cx="1827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OpenVPN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10"/>
          <p:cNvSpPr/>
          <p:nvPr/>
        </p:nvSpPr>
        <p:spPr>
          <a:xfrm>
            <a:off x="6400800" y="1737360"/>
            <a:ext cx="1827720" cy="547560"/>
          </a:xfrm>
          <a:prstGeom prst="rect">
            <a:avLst/>
          </a:prstGeom>
          <a:solidFill>
            <a:srgbClr val="1c2128"/>
          </a:solidFill>
          <a:ln w="1016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11"/>
          <p:cNvSpPr/>
          <p:nvPr/>
        </p:nvSpPr>
        <p:spPr>
          <a:xfrm>
            <a:off x="6400800" y="1737360"/>
            <a:ext cx="1827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IPsec/IKEv2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12"/>
          <p:cNvSpPr/>
          <p:nvPr/>
        </p:nvSpPr>
        <p:spPr>
          <a:xfrm>
            <a:off x="8229600" y="1737360"/>
            <a:ext cx="1461960" cy="547560"/>
          </a:xfrm>
          <a:prstGeom prst="rect">
            <a:avLst/>
          </a:prstGeom>
          <a:solidFill>
            <a:srgbClr val="1c2128"/>
          </a:solidFill>
          <a:ln w="1016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13"/>
          <p:cNvSpPr/>
          <p:nvPr/>
        </p:nvSpPr>
        <p:spPr>
          <a:xfrm>
            <a:off x="8229600" y="1737360"/>
            <a:ext cx="1461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PPTP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14"/>
          <p:cNvSpPr/>
          <p:nvPr/>
        </p:nvSpPr>
        <p:spPr>
          <a:xfrm>
            <a:off x="9692640" y="1737360"/>
            <a:ext cx="1736280" cy="547560"/>
          </a:xfrm>
          <a:prstGeom prst="rect">
            <a:avLst/>
          </a:prstGeom>
          <a:solidFill>
            <a:srgbClr val="1c2128"/>
          </a:solidFill>
          <a:ln w="1016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15"/>
          <p:cNvSpPr/>
          <p:nvPr/>
        </p:nvSpPr>
        <p:spPr>
          <a:xfrm>
            <a:off x="9692640" y="1737360"/>
            <a:ext cx="1736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SSTP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16"/>
          <p:cNvSpPr/>
          <p:nvPr/>
        </p:nvSpPr>
        <p:spPr>
          <a:xfrm>
            <a:off x="731520" y="2286000"/>
            <a:ext cx="201060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7"/>
          <p:cNvSpPr/>
          <p:nvPr/>
        </p:nvSpPr>
        <p:spPr>
          <a:xfrm>
            <a:off x="822960" y="228600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Уровень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18"/>
          <p:cNvSpPr/>
          <p:nvPr/>
        </p:nvSpPr>
        <p:spPr>
          <a:xfrm>
            <a:off x="2743200" y="228600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19"/>
          <p:cNvSpPr/>
          <p:nvPr/>
        </p:nvSpPr>
        <p:spPr>
          <a:xfrm>
            <a:off x="2834640" y="228600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L3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20"/>
          <p:cNvSpPr/>
          <p:nvPr/>
        </p:nvSpPr>
        <p:spPr>
          <a:xfrm>
            <a:off x="4572000" y="228600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21"/>
          <p:cNvSpPr/>
          <p:nvPr/>
        </p:nvSpPr>
        <p:spPr>
          <a:xfrm>
            <a:off x="4663440" y="228600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L3/L2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Shape 22"/>
          <p:cNvSpPr/>
          <p:nvPr/>
        </p:nvSpPr>
        <p:spPr>
          <a:xfrm>
            <a:off x="6400800" y="228600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23"/>
          <p:cNvSpPr/>
          <p:nvPr/>
        </p:nvSpPr>
        <p:spPr>
          <a:xfrm>
            <a:off x="6492240" y="228600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L3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24"/>
          <p:cNvSpPr/>
          <p:nvPr/>
        </p:nvSpPr>
        <p:spPr>
          <a:xfrm>
            <a:off x="8229600" y="2286000"/>
            <a:ext cx="146196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25"/>
          <p:cNvSpPr/>
          <p:nvPr/>
        </p:nvSpPr>
        <p:spPr>
          <a:xfrm>
            <a:off x="8321040" y="228600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L2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26"/>
          <p:cNvSpPr/>
          <p:nvPr/>
        </p:nvSpPr>
        <p:spPr>
          <a:xfrm>
            <a:off x="9692640" y="2286000"/>
            <a:ext cx="173628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27"/>
          <p:cNvSpPr/>
          <p:nvPr/>
        </p:nvSpPr>
        <p:spPr>
          <a:xfrm>
            <a:off x="9784080" y="228600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L2 over HTTPS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28"/>
          <p:cNvSpPr/>
          <p:nvPr/>
        </p:nvSpPr>
        <p:spPr>
          <a:xfrm>
            <a:off x="731520" y="2724840"/>
            <a:ext cx="201060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29"/>
          <p:cNvSpPr/>
          <p:nvPr/>
        </p:nvSpPr>
        <p:spPr>
          <a:xfrm>
            <a:off x="822960" y="272484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Транспорт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30"/>
          <p:cNvSpPr/>
          <p:nvPr/>
        </p:nvSpPr>
        <p:spPr>
          <a:xfrm>
            <a:off x="2743200" y="272484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31"/>
          <p:cNvSpPr/>
          <p:nvPr/>
        </p:nvSpPr>
        <p:spPr>
          <a:xfrm>
            <a:off x="2834640" y="272484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UDP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32"/>
          <p:cNvSpPr/>
          <p:nvPr/>
        </p:nvSpPr>
        <p:spPr>
          <a:xfrm>
            <a:off x="4572000" y="272484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33"/>
          <p:cNvSpPr/>
          <p:nvPr/>
        </p:nvSpPr>
        <p:spPr>
          <a:xfrm>
            <a:off x="4663440" y="272484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UDP/TCP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34"/>
          <p:cNvSpPr/>
          <p:nvPr/>
        </p:nvSpPr>
        <p:spPr>
          <a:xfrm>
            <a:off x="6400800" y="272484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35"/>
          <p:cNvSpPr/>
          <p:nvPr/>
        </p:nvSpPr>
        <p:spPr>
          <a:xfrm>
            <a:off x="6492240" y="272484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UDP 500/4500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36"/>
          <p:cNvSpPr/>
          <p:nvPr/>
        </p:nvSpPr>
        <p:spPr>
          <a:xfrm>
            <a:off x="8229600" y="2724840"/>
            <a:ext cx="146196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37"/>
          <p:cNvSpPr/>
          <p:nvPr/>
        </p:nvSpPr>
        <p:spPr>
          <a:xfrm>
            <a:off x="8321040" y="272484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TCP 1723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38"/>
          <p:cNvSpPr/>
          <p:nvPr/>
        </p:nvSpPr>
        <p:spPr>
          <a:xfrm>
            <a:off x="9692640" y="2724840"/>
            <a:ext cx="173628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39"/>
          <p:cNvSpPr/>
          <p:nvPr/>
        </p:nvSpPr>
        <p:spPr>
          <a:xfrm>
            <a:off x="9784080" y="272484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TCP 443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40"/>
          <p:cNvSpPr/>
          <p:nvPr/>
        </p:nvSpPr>
        <p:spPr>
          <a:xfrm>
            <a:off x="731520" y="3163680"/>
            <a:ext cx="201060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41"/>
          <p:cNvSpPr/>
          <p:nvPr/>
        </p:nvSpPr>
        <p:spPr>
          <a:xfrm>
            <a:off x="822960" y="316368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Handshake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42"/>
          <p:cNvSpPr/>
          <p:nvPr/>
        </p:nvSpPr>
        <p:spPr>
          <a:xfrm>
            <a:off x="2743200" y="316368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43"/>
          <p:cNvSpPr/>
          <p:nvPr/>
        </p:nvSpPr>
        <p:spPr>
          <a:xfrm>
            <a:off x="2834640" y="316368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1-RTT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44"/>
          <p:cNvSpPr/>
          <p:nvPr/>
        </p:nvSpPr>
        <p:spPr>
          <a:xfrm>
            <a:off x="4572000" y="316368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45"/>
          <p:cNvSpPr/>
          <p:nvPr/>
        </p:nvSpPr>
        <p:spPr>
          <a:xfrm>
            <a:off x="4663440" y="316368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TLS 2+RTT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46"/>
          <p:cNvSpPr/>
          <p:nvPr/>
        </p:nvSpPr>
        <p:spPr>
          <a:xfrm>
            <a:off x="6400800" y="316368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47"/>
          <p:cNvSpPr/>
          <p:nvPr/>
        </p:nvSpPr>
        <p:spPr>
          <a:xfrm>
            <a:off x="6492240" y="316368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2 обмена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48"/>
          <p:cNvSpPr/>
          <p:nvPr/>
        </p:nvSpPr>
        <p:spPr>
          <a:xfrm>
            <a:off x="8229600" y="3163680"/>
            <a:ext cx="146196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49"/>
          <p:cNvSpPr/>
          <p:nvPr/>
        </p:nvSpPr>
        <p:spPr>
          <a:xfrm>
            <a:off x="8321040" y="316368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слабый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50"/>
          <p:cNvSpPr/>
          <p:nvPr/>
        </p:nvSpPr>
        <p:spPr>
          <a:xfrm>
            <a:off x="9692640" y="3163680"/>
            <a:ext cx="173628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51"/>
          <p:cNvSpPr/>
          <p:nvPr/>
        </p:nvSpPr>
        <p:spPr>
          <a:xfrm>
            <a:off x="9784080" y="316368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TLS + PPP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52"/>
          <p:cNvSpPr/>
          <p:nvPr/>
        </p:nvSpPr>
        <p:spPr>
          <a:xfrm>
            <a:off x="731520" y="3602880"/>
            <a:ext cx="201060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53"/>
          <p:cNvSpPr/>
          <p:nvPr/>
        </p:nvSpPr>
        <p:spPr>
          <a:xfrm>
            <a:off x="822960" y="360288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Overhead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54"/>
          <p:cNvSpPr/>
          <p:nvPr/>
        </p:nvSpPr>
        <p:spPr>
          <a:xfrm>
            <a:off x="2743200" y="360288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55"/>
          <p:cNvSpPr/>
          <p:nvPr/>
        </p:nvSpPr>
        <p:spPr>
          <a:xfrm>
            <a:off x="2834640" y="360288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d29922"/>
                </a:solidFill>
                <a:latin typeface="Consolas"/>
                <a:ea typeface="Consolas"/>
              </a:rPr>
              <a:t>~60 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56"/>
          <p:cNvSpPr/>
          <p:nvPr/>
        </p:nvSpPr>
        <p:spPr>
          <a:xfrm>
            <a:off x="4572000" y="360288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57"/>
          <p:cNvSpPr/>
          <p:nvPr/>
        </p:nvSpPr>
        <p:spPr>
          <a:xfrm>
            <a:off x="4663440" y="360288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d29922"/>
                </a:solidFill>
                <a:latin typeface="Consolas"/>
                <a:ea typeface="Consolas"/>
              </a:rPr>
              <a:t>~40–80 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58"/>
          <p:cNvSpPr/>
          <p:nvPr/>
        </p:nvSpPr>
        <p:spPr>
          <a:xfrm>
            <a:off x="6400800" y="360288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59"/>
          <p:cNvSpPr/>
          <p:nvPr/>
        </p:nvSpPr>
        <p:spPr>
          <a:xfrm>
            <a:off x="6492240" y="360288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d29922"/>
                </a:solidFill>
                <a:latin typeface="Consolas"/>
                <a:ea typeface="Consolas"/>
              </a:rPr>
              <a:t>~50–80 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60"/>
          <p:cNvSpPr/>
          <p:nvPr/>
        </p:nvSpPr>
        <p:spPr>
          <a:xfrm>
            <a:off x="8229600" y="3602880"/>
            <a:ext cx="146196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61"/>
          <p:cNvSpPr/>
          <p:nvPr/>
        </p:nvSpPr>
        <p:spPr>
          <a:xfrm>
            <a:off x="8321040" y="360288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мало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62"/>
          <p:cNvSpPr/>
          <p:nvPr/>
        </p:nvSpPr>
        <p:spPr>
          <a:xfrm>
            <a:off x="9692640" y="3602880"/>
            <a:ext cx="173628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63"/>
          <p:cNvSpPr/>
          <p:nvPr/>
        </p:nvSpPr>
        <p:spPr>
          <a:xfrm>
            <a:off x="9784080" y="360288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d29922"/>
                </a:solidFill>
                <a:latin typeface="Consolas"/>
                <a:ea typeface="Consolas"/>
              </a:rPr>
              <a:t>~40–100 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64"/>
          <p:cNvSpPr/>
          <p:nvPr/>
        </p:nvSpPr>
        <p:spPr>
          <a:xfrm>
            <a:off x="731520" y="4041720"/>
            <a:ext cx="201060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65"/>
          <p:cNvSpPr/>
          <p:nvPr/>
        </p:nvSpPr>
        <p:spPr>
          <a:xfrm>
            <a:off x="822960" y="404172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Размер кода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66"/>
          <p:cNvSpPr/>
          <p:nvPr/>
        </p:nvSpPr>
        <p:spPr>
          <a:xfrm>
            <a:off x="2743200" y="404172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67"/>
          <p:cNvSpPr/>
          <p:nvPr/>
        </p:nvSpPr>
        <p:spPr>
          <a:xfrm>
            <a:off x="2834640" y="404172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d29922"/>
                </a:solidFill>
                <a:latin typeface="Consolas"/>
                <a:ea typeface="Consolas"/>
              </a:rPr>
              <a:t>~4k строк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68"/>
          <p:cNvSpPr/>
          <p:nvPr/>
        </p:nvSpPr>
        <p:spPr>
          <a:xfrm>
            <a:off x="4572000" y="404172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69"/>
          <p:cNvSpPr/>
          <p:nvPr/>
        </p:nvSpPr>
        <p:spPr>
          <a:xfrm>
            <a:off x="4663440" y="404172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десятки тыс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70"/>
          <p:cNvSpPr/>
          <p:nvPr/>
        </p:nvSpPr>
        <p:spPr>
          <a:xfrm>
            <a:off x="6400800" y="404172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71"/>
          <p:cNvSpPr/>
          <p:nvPr/>
        </p:nvSpPr>
        <p:spPr>
          <a:xfrm>
            <a:off x="6492240" y="404172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сотни тысяч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72"/>
          <p:cNvSpPr/>
          <p:nvPr/>
        </p:nvSpPr>
        <p:spPr>
          <a:xfrm>
            <a:off x="8229600" y="4041720"/>
            <a:ext cx="146196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73"/>
          <p:cNvSpPr/>
          <p:nvPr/>
        </p:nvSpPr>
        <p:spPr>
          <a:xfrm>
            <a:off x="8321040" y="404172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—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74"/>
          <p:cNvSpPr/>
          <p:nvPr/>
        </p:nvSpPr>
        <p:spPr>
          <a:xfrm>
            <a:off x="9692640" y="4041720"/>
            <a:ext cx="173628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75"/>
          <p:cNvSpPr/>
          <p:nvPr/>
        </p:nvSpPr>
        <p:spPr>
          <a:xfrm>
            <a:off x="9784080" y="404172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часть ОС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76"/>
          <p:cNvSpPr/>
          <p:nvPr/>
        </p:nvSpPr>
        <p:spPr>
          <a:xfrm>
            <a:off x="731520" y="4480560"/>
            <a:ext cx="201060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77"/>
          <p:cNvSpPr/>
          <p:nvPr/>
        </p:nvSpPr>
        <p:spPr>
          <a:xfrm>
            <a:off x="822960" y="448056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Криптография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78"/>
          <p:cNvSpPr/>
          <p:nvPr/>
        </p:nvSpPr>
        <p:spPr>
          <a:xfrm>
            <a:off x="2743200" y="448056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79"/>
          <p:cNvSpPr/>
          <p:nvPr/>
        </p:nvSpPr>
        <p:spPr>
          <a:xfrm>
            <a:off x="2834640" y="448056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Фикс. Noise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80"/>
          <p:cNvSpPr/>
          <p:nvPr/>
        </p:nvSpPr>
        <p:spPr>
          <a:xfrm>
            <a:off x="4572000" y="448056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81"/>
          <p:cNvSpPr/>
          <p:nvPr/>
        </p:nvSpPr>
        <p:spPr>
          <a:xfrm>
            <a:off x="4663440" y="448056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Настраиваемая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82"/>
          <p:cNvSpPr/>
          <p:nvPr/>
        </p:nvSpPr>
        <p:spPr>
          <a:xfrm>
            <a:off x="6400800" y="448056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83"/>
          <p:cNvSpPr/>
          <p:nvPr/>
        </p:nvSpPr>
        <p:spPr>
          <a:xfrm>
            <a:off x="6492240" y="448056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Настраиваемая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84"/>
          <p:cNvSpPr/>
          <p:nvPr/>
        </p:nvSpPr>
        <p:spPr>
          <a:xfrm>
            <a:off x="8229600" y="4480560"/>
            <a:ext cx="146196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85"/>
          <p:cNvSpPr/>
          <p:nvPr/>
        </p:nvSpPr>
        <p:spPr>
          <a:xfrm>
            <a:off x="8321040" y="448056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f85149"/>
                </a:solidFill>
                <a:latin typeface="Consolas"/>
                <a:ea typeface="Consolas"/>
              </a:rPr>
              <a:t>СЛОМАНА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86"/>
          <p:cNvSpPr/>
          <p:nvPr/>
        </p:nvSpPr>
        <p:spPr>
          <a:xfrm>
            <a:off x="9692640" y="4480560"/>
            <a:ext cx="173628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87"/>
          <p:cNvSpPr/>
          <p:nvPr/>
        </p:nvSpPr>
        <p:spPr>
          <a:xfrm>
            <a:off x="9784080" y="448056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TLS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88"/>
          <p:cNvSpPr/>
          <p:nvPr/>
        </p:nvSpPr>
        <p:spPr>
          <a:xfrm>
            <a:off x="731520" y="4919400"/>
            <a:ext cx="201060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89"/>
          <p:cNvSpPr/>
          <p:nvPr/>
        </p:nvSpPr>
        <p:spPr>
          <a:xfrm>
            <a:off x="822960" y="491940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NAT-friendly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90"/>
          <p:cNvSpPr/>
          <p:nvPr/>
        </p:nvSpPr>
        <p:spPr>
          <a:xfrm>
            <a:off x="2743200" y="491940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91"/>
          <p:cNvSpPr/>
          <p:nvPr/>
        </p:nvSpPr>
        <p:spPr>
          <a:xfrm>
            <a:off x="2834640" y="491940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Отлично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92"/>
          <p:cNvSpPr/>
          <p:nvPr/>
        </p:nvSpPr>
        <p:spPr>
          <a:xfrm>
            <a:off x="4572000" y="491940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93"/>
          <p:cNvSpPr/>
          <p:nvPr/>
        </p:nvSpPr>
        <p:spPr>
          <a:xfrm>
            <a:off x="4663440" y="491940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Хорошо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94"/>
          <p:cNvSpPr/>
          <p:nvPr/>
        </p:nvSpPr>
        <p:spPr>
          <a:xfrm>
            <a:off x="6400800" y="4919400"/>
            <a:ext cx="1827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95"/>
          <p:cNvSpPr/>
          <p:nvPr/>
        </p:nvSpPr>
        <p:spPr>
          <a:xfrm>
            <a:off x="6492240" y="491940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Нужен NAT-T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96"/>
          <p:cNvSpPr/>
          <p:nvPr/>
        </p:nvSpPr>
        <p:spPr>
          <a:xfrm>
            <a:off x="8229600" y="4919400"/>
            <a:ext cx="146196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97"/>
          <p:cNvSpPr/>
          <p:nvPr/>
        </p:nvSpPr>
        <p:spPr>
          <a:xfrm>
            <a:off x="8321040" y="491940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Плохо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98"/>
          <p:cNvSpPr/>
          <p:nvPr/>
        </p:nvSpPr>
        <p:spPr>
          <a:xfrm>
            <a:off x="9692640" y="4919400"/>
            <a:ext cx="173628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99"/>
          <p:cNvSpPr/>
          <p:nvPr/>
        </p:nvSpPr>
        <p:spPr>
          <a:xfrm>
            <a:off x="9784080" y="491940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Отлично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Shape 100"/>
          <p:cNvSpPr/>
          <p:nvPr/>
        </p:nvSpPr>
        <p:spPr>
          <a:xfrm>
            <a:off x="731520" y="5358240"/>
            <a:ext cx="201060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101"/>
          <p:cNvSpPr/>
          <p:nvPr/>
        </p:nvSpPr>
        <p:spPr>
          <a:xfrm>
            <a:off x="822960" y="5358240"/>
            <a:ext cx="1827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Вердикт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102"/>
          <p:cNvSpPr/>
          <p:nvPr/>
        </p:nvSpPr>
        <p:spPr>
          <a:xfrm>
            <a:off x="2743200" y="535824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103"/>
          <p:cNvSpPr/>
          <p:nvPr/>
        </p:nvSpPr>
        <p:spPr>
          <a:xfrm>
            <a:off x="2834640" y="535824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✓ </a:t>
            </a: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Современный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Shape 104"/>
          <p:cNvSpPr/>
          <p:nvPr/>
        </p:nvSpPr>
        <p:spPr>
          <a:xfrm>
            <a:off x="4572000" y="535824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105"/>
          <p:cNvSpPr/>
          <p:nvPr/>
        </p:nvSpPr>
        <p:spPr>
          <a:xfrm>
            <a:off x="4663440" y="535824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✓ </a:t>
            </a: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Зрелый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106"/>
          <p:cNvSpPr/>
          <p:nvPr/>
        </p:nvSpPr>
        <p:spPr>
          <a:xfrm>
            <a:off x="6400800" y="5358240"/>
            <a:ext cx="1827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107"/>
          <p:cNvSpPr/>
          <p:nvPr/>
        </p:nvSpPr>
        <p:spPr>
          <a:xfrm>
            <a:off x="6492240" y="5358240"/>
            <a:ext cx="1644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✓ </a:t>
            </a: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Гибкий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108"/>
          <p:cNvSpPr/>
          <p:nvPr/>
        </p:nvSpPr>
        <p:spPr>
          <a:xfrm>
            <a:off x="8229600" y="5358240"/>
            <a:ext cx="146196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109"/>
          <p:cNvSpPr/>
          <p:nvPr/>
        </p:nvSpPr>
        <p:spPr>
          <a:xfrm>
            <a:off x="8321040" y="5358240"/>
            <a:ext cx="1279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f85149"/>
                </a:solidFill>
                <a:latin typeface="Consolas"/>
                <a:ea typeface="Consolas"/>
              </a:rPr>
              <a:t>✗ </a:t>
            </a:r>
            <a:r>
              <a:rPr b="0" lang="ru-RU" sz="1100" spc="-1" strike="noStrike">
                <a:solidFill>
                  <a:srgbClr val="f85149"/>
                </a:solidFill>
                <a:latin typeface="Consolas"/>
                <a:ea typeface="Consolas"/>
              </a:rPr>
              <a:t>Опасен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110"/>
          <p:cNvSpPr/>
          <p:nvPr/>
        </p:nvSpPr>
        <p:spPr>
          <a:xfrm>
            <a:off x="9692640" y="5358240"/>
            <a:ext cx="173628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11"/>
          <p:cNvSpPr/>
          <p:nvPr/>
        </p:nvSpPr>
        <p:spPr>
          <a:xfrm>
            <a:off x="9784080" y="5358240"/>
            <a:ext cx="1553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d29922"/>
                </a:solidFill>
                <a:latin typeface="Consolas"/>
                <a:ea typeface="Consolas"/>
              </a:rPr>
              <a:t>~ Niche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112"/>
          <p:cNvSpPr/>
          <p:nvPr/>
        </p:nvSpPr>
        <p:spPr>
          <a:xfrm>
            <a:off x="548640" y="630936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PPTP — сломан (2012), нельзя использовать. WireGuard, OpenVPN, IPsec — основные живые.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15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6  ·  ОБФУСКАЦИЯ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Протоколы для обхода DPI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4"/>
          <p:cNvSpPr/>
          <p:nvPr/>
        </p:nvSpPr>
        <p:spPr>
          <a:xfrm>
            <a:off x="548640" y="1691640"/>
            <a:ext cx="10971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Технически — прокси, но через tun2socks становятся полноценными L3-туннелями. В России ТСПУ с 2023 блокирует WG/OpenVPN по сигнатурам — эти протоколы решают проблему.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5"/>
          <p:cNvSpPr/>
          <p:nvPr/>
        </p:nvSpPr>
        <p:spPr>
          <a:xfrm>
            <a:off x="548640" y="2560320"/>
            <a:ext cx="5485320" cy="1690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6"/>
          <p:cNvSpPr/>
          <p:nvPr/>
        </p:nvSpPr>
        <p:spPr>
          <a:xfrm>
            <a:off x="548640" y="2560320"/>
            <a:ext cx="81360" cy="16905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7"/>
          <p:cNvSpPr/>
          <p:nvPr/>
        </p:nvSpPr>
        <p:spPr>
          <a:xfrm>
            <a:off x="822960" y="269748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e6edf3"/>
                </a:solidFill>
                <a:latin typeface="Arial Black"/>
                <a:ea typeface="Arial Black"/>
              </a:rPr>
              <a:t>Shadowsocks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8"/>
          <p:cNvSpPr/>
          <p:nvPr/>
        </p:nvSpPr>
        <p:spPr>
          <a:xfrm>
            <a:off x="3749040" y="2761560"/>
            <a:ext cx="2102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2012, clowwindy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9"/>
          <p:cNvSpPr/>
          <p:nvPr/>
        </p:nvSpPr>
        <p:spPr>
          <a:xfrm>
            <a:off x="822960" y="3108960"/>
            <a:ext cx="50738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SOCKS5 + AEAD. Обфусцированный поток = случайные байты, нет сигнатуры.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10"/>
          <p:cNvSpPr/>
          <p:nvPr/>
        </p:nvSpPr>
        <p:spPr>
          <a:xfrm>
            <a:off x="822960" y="384048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194" strike="noStrike">
                <a:solidFill>
                  <a:srgbClr val="ff8c42"/>
                </a:solidFill>
                <a:latin typeface="Consolas"/>
                <a:ea typeface="Consolas"/>
              </a:rPr>
              <a:t>Shadowsocks-2022: BLAKE3, replay-protection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11"/>
          <p:cNvSpPr/>
          <p:nvPr/>
        </p:nvSpPr>
        <p:spPr>
          <a:xfrm>
            <a:off x="6172200" y="2560320"/>
            <a:ext cx="5485320" cy="1690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12"/>
          <p:cNvSpPr/>
          <p:nvPr/>
        </p:nvSpPr>
        <p:spPr>
          <a:xfrm>
            <a:off x="6172200" y="2560320"/>
            <a:ext cx="81360" cy="16905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13"/>
          <p:cNvSpPr/>
          <p:nvPr/>
        </p:nvSpPr>
        <p:spPr>
          <a:xfrm>
            <a:off x="6446520" y="269748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e6edf3"/>
                </a:solidFill>
                <a:latin typeface="Arial Black"/>
                <a:ea typeface="Arial Black"/>
              </a:rPr>
              <a:t>VLESS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14"/>
          <p:cNvSpPr/>
          <p:nvPr/>
        </p:nvSpPr>
        <p:spPr>
          <a:xfrm>
            <a:off x="9372600" y="2761560"/>
            <a:ext cx="2102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V2Fly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15"/>
          <p:cNvSpPr/>
          <p:nvPr/>
        </p:nvSpPr>
        <p:spPr>
          <a:xfrm>
            <a:off x="6446520" y="3108960"/>
            <a:ext cx="50738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Облегчённая версия VMess без своего шифрования. Полагается на внешний TLS/Reality.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16"/>
          <p:cNvSpPr/>
          <p:nvPr/>
        </p:nvSpPr>
        <p:spPr>
          <a:xfrm>
            <a:off x="6446520" y="384048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194" strike="noStrike">
                <a:solidFill>
                  <a:srgbClr val="ff8c42"/>
                </a:solidFill>
                <a:latin typeface="Consolas"/>
                <a:ea typeface="Consolas"/>
              </a:rPr>
              <a:t>Современная замена VMess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17"/>
          <p:cNvSpPr/>
          <p:nvPr/>
        </p:nvSpPr>
        <p:spPr>
          <a:xfrm>
            <a:off x="548640" y="4389120"/>
            <a:ext cx="5485320" cy="1690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Shape 18"/>
          <p:cNvSpPr/>
          <p:nvPr/>
        </p:nvSpPr>
        <p:spPr>
          <a:xfrm>
            <a:off x="548640" y="4389120"/>
            <a:ext cx="81360" cy="16905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19"/>
          <p:cNvSpPr/>
          <p:nvPr/>
        </p:nvSpPr>
        <p:spPr>
          <a:xfrm>
            <a:off x="822960" y="452628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e6edf3"/>
                </a:solidFill>
                <a:latin typeface="Arial Black"/>
                <a:ea typeface="Arial Black"/>
              </a:rPr>
              <a:t>Trojan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20"/>
          <p:cNvSpPr/>
          <p:nvPr/>
        </p:nvSpPr>
        <p:spPr>
          <a:xfrm>
            <a:off x="3749040" y="4590360"/>
            <a:ext cx="2102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trojan-gfw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21"/>
          <p:cNvSpPr/>
          <p:nvPr/>
        </p:nvSpPr>
        <p:spPr>
          <a:xfrm>
            <a:off x="822960" y="4937760"/>
            <a:ext cx="50738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Маскировка под настоящий HTTPS с Let's Encrypt. Неправильный пароль → прозрачный прокси на веб-сайт.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22"/>
          <p:cNvSpPr/>
          <p:nvPr/>
        </p:nvSpPr>
        <p:spPr>
          <a:xfrm>
            <a:off x="822960" y="566928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194" strike="noStrike">
                <a:solidFill>
                  <a:srgbClr val="ff8c42"/>
                </a:solidFill>
                <a:latin typeface="Consolas"/>
                <a:ea typeface="Consolas"/>
              </a:rPr>
              <a:t>Защита от active probe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23"/>
          <p:cNvSpPr/>
          <p:nvPr/>
        </p:nvSpPr>
        <p:spPr>
          <a:xfrm>
            <a:off x="6172200" y="4389120"/>
            <a:ext cx="5485320" cy="1690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24"/>
          <p:cNvSpPr/>
          <p:nvPr/>
        </p:nvSpPr>
        <p:spPr>
          <a:xfrm>
            <a:off x="6172200" y="4389120"/>
            <a:ext cx="81360" cy="16905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25"/>
          <p:cNvSpPr/>
          <p:nvPr/>
        </p:nvSpPr>
        <p:spPr>
          <a:xfrm>
            <a:off x="6446520" y="452628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e6edf3"/>
                </a:solidFill>
                <a:latin typeface="Arial Black"/>
                <a:ea typeface="Arial Black"/>
              </a:rPr>
              <a:t>Reality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26"/>
          <p:cNvSpPr/>
          <p:nvPr/>
        </p:nvSpPr>
        <p:spPr>
          <a:xfrm>
            <a:off x="9372600" y="4590360"/>
            <a:ext cx="2102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XTLS, 2023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27"/>
          <p:cNvSpPr/>
          <p:nvPr/>
        </p:nvSpPr>
        <p:spPr>
          <a:xfrm>
            <a:off x="6446520" y="4937760"/>
            <a:ext cx="50738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Прорыв: сервер НЕ имеет своего сертификата. Имитирует handshake с www.microsoft.com. Active probe получает настоящий MS.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28"/>
          <p:cNvSpPr/>
          <p:nvPr/>
        </p:nvSpPr>
        <p:spPr>
          <a:xfrm>
            <a:off x="6446520" y="566928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194" strike="noStrike">
                <a:solidFill>
                  <a:srgbClr val="ff8c42"/>
                </a:solidFill>
                <a:latin typeface="Consolas"/>
                <a:ea typeface="Consolas"/>
              </a:rPr>
              <a:t>Топ для борьбы с GFW/ТСПУ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29"/>
          <p:cNvSpPr/>
          <p:nvPr/>
        </p:nvSpPr>
        <p:spPr>
          <a:xfrm>
            <a:off x="548640" y="6126480"/>
            <a:ext cx="1106316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30"/>
          <p:cNvSpPr/>
          <p:nvPr/>
        </p:nvSpPr>
        <p:spPr>
          <a:xfrm>
            <a:off x="777240" y="6126480"/>
            <a:ext cx="10788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3fb950"/>
                </a:solidFill>
                <a:latin typeface="Consolas"/>
                <a:ea typeface="Consolas"/>
              </a:rPr>
              <a:t>Работающий стек 2025–2026 в РФ:  </a:t>
            </a:r>
            <a:r>
              <a:rPr b="1" lang="ru-RU" sz="1300" spc="-1" strike="noStrike">
                <a:solidFill>
                  <a:srgbClr val="e6edf3"/>
                </a:solidFill>
                <a:latin typeface="Consolas"/>
                <a:ea typeface="Consolas"/>
              </a:rPr>
              <a:t>VLESS + XTLS-Vision + Reality</a:t>
            </a:r>
            <a:r>
              <a:rPr b="0" lang="ru-RU" sz="1300" spc="-1" strike="noStrike">
                <a:solidFill>
                  <a:srgbClr val="8b949e"/>
                </a:solidFill>
                <a:latin typeface="Consolas"/>
                <a:ea typeface="Consolas"/>
              </a:rPr>
              <a:t>   ·   визуально неотличим от HTTPS к популярному сайту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16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7  ·  PRACTICAL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MTU — почему VPN иногда тормозит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4"/>
          <p:cNvSpPr/>
          <p:nvPr/>
        </p:nvSpPr>
        <p:spPr>
          <a:xfrm>
            <a:off x="548640" y="1737360"/>
            <a:ext cx="10971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d29922"/>
                </a:solidFill>
                <a:latin typeface="Consolas"/>
                <a:ea typeface="Consolas"/>
              </a:rPr>
              <a:t>ПРОБЛЕМА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5"/>
          <p:cNvSpPr/>
          <p:nvPr/>
        </p:nvSpPr>
        <p:spPr>
          <a:xfrm>
            <a:off x="548640" y="2103120"/>
            <a:ext cx="8228520" cy="45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6"/>
          <p:cNvSpPr/>
          <p:nvPr/>
        </p:nvSpPr>
        <p:spPr>
          <a:xfrm>
            <a:off x="640080" y="210312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IP-пакет — 1500 байт (стандартный Ethernet MTU)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7"/>
          <p:cNvSpPr/>
          <p:nvPr/>
        </p:nvSpPr>
        <p:spPr>
          <a:xfrm>
            <a:off x="548640" y="2834640"/>
            <a:ext cx="8228520" cy="45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8"/>
          <p:cNvSpPr/>
          <p:nvPr/>
        </p:nvSpPr>
        <p:spPr>
          <a:xfrm>
            <a:off x="640080" y="283464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onsolas"/>
                <a:ea typeface="Consolas"/>
              </a:rPr>
              <a:t>IP-пакет внутри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9"/>
          <p:cNvSpPr/>
          <p:nvPr/>
        </p:nvSpPr>
        <p:spPr>
          <a:xfrm>
            <a:off x="8778240" y="2834640"/>
            <a:ext cx="364680" cy="456120"/>
          </a:xfrm>
          <a:prstGeom prst="rect">
            <a:avLst/>
          </a:prstGeom>
          <a:solidFill>
            <a:srgbClr val="f85149">
              <a:alpha val="70000"/>
            </a:srgbClr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10"/>
          <p:cNvSpPr/>
          <p:nvPr/>
        </p:nvSpPr>
        <p:spPr>
          <a:xfrm>
            <a:off x="8778240" y="2834640"/>
            <a:ext cx="364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-1" strike="noStrike">
                <a:solidFill>
                  <a:srgbClr val="ffffff"/>
                </a:solidFill>
                <a:latin typeface="Consolas"/>
                <a:ea typeface="Consolas"/>
              </a:rPr>
              <a:t>+60 B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11"/>
          <p:cNvSpPr/>
          <p:nvPr/>
        </p:nvSpPr>
        <p:spPr>
          <a:xfrm>
            <a:off x="9235440" y="283464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f85149"/>
                </a:solidFill>
                <a:latin typeface="Consolas"/>
                <a:ea typeface="Consolas"/>
              </a:rPr>
              <a:t>= 1560 байт → фрагментация, медленно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12"/>
          <p:cNvSpPr/>
          <p:nvPr/>
        </p:nvSpPr>
        <p:spPr>
          <a:xfrm>
            <a:off x="548640" y="3657600"/>
            <a:ext cx="10971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3fb950"/>
                </a:solidFill>
                <a:latin typeface="Consolas"/>
                <a:ea typeface="Consolas"/>
              </a:rPr>
              <a:t>РЕШЕНИЕ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13"/>
          <p:cNvSpPr/>
          <p:nvPr/>
        </p:nvSpPr>
        <p:spPr>
          <a:xfrm>
            <a:off x="548640" y="3977640"/>
            <a:ext cx="6582600" cy="45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14"/>
          <p:cNvSpPr/>
          <p:nvPr/>
        </p:nvSpPr>
        <p:spPr>
          <a:xfrm>
            <a:off x="640080" y="3977640"/>
            <a:ext cx="6399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IP-пакет внутри — 1420 байт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15"/>
          <p:cNvSpPr/>
          <p:nvPr/>
        </p:nvSpPr>
        <p:spPr>
          <a:xfrm>
            <a:off x="7132320" y="3977640"/>
            <a:ext cx="164484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16"/>
          <p:cNvSpPr/>
          <p:nvPr/>
        </p:nvSpPr>
        <p:spPr>
          <a:xfrm>
            <a:off x="7132320" y="3977640"/>
            <a:ext cx="1644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+ WG 60B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17"/>
          <p:cNvSpPr/>
          <p:nvPr/>
        </p:nvSpPr>
        <p:spPr>
          <a:xfrm>
            <a:off x="8961120" y="397764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= 1500, ОК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8"/>
          <p:cNvSpPr/>
          <p:nvPr/>
        </p:nvSpPr>
        <p:spPr>
          <a:xfrm>
            <a:off x="548640" y="4800600"/>
            <a:ext cx="11063160" cy="17362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19"/>
          <p:cNvSpPr/>
          <p:nvPr/>
        </p:nvSpPr>
        <p:spPr>
          <a:xfrm>
            <a:off x="548640" y="4800600"/>
            <a:ext cx="81360" cy="17362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20"/>
          <p:cNvSpPr/>
          <p:nvPr/>
        </p:nvSpPr>
        <p:spPr>
          <a:xfrm>
            <a:off x="777240" y="493776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194" strike="noStrike">
                <a:solidFill>
                  <a:srgbClr val="f85149"/>
                </a:solidFill>
                <a:latin typeface="Arial Black"/>
                <a:ea typeface="Arial Black"/>
              </a:rPr>
              <a:t>ЗАСАДА: ICMP BLACK HOLE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21"/>
          <p:cNvSpPr/>
          <p:nvPr/>
        </p:nvSpPr>
        <p:spPr>
          <a:xfrm>
            <a:off x="777240" y="5349240"/>
            <a:ext cx="10697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Path MTU Discovery (RFC 1191) требует, чтобы роутер прислал ICMP «пакет слишком большой». Но многие файрволы блокируют весь ICMP → отправитель ничего не знает → пакеты теряются → соединение висит.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22"/>
          <p:cNvSpPr/>
          <p:nvPr/>
        </p:nvSpPr>
        <p:spPr>
          <a:xfrm>
            <a:off x="777240" y="6172200"/>
            <a:ext cx="10697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Обход: </a:t>
            </a:r>
            <a:r>
              <a:rPr b="1" lang="ru-RU" sz="1200" spc="-1" strike="noStrike">
                <a:solidFill>
                  <a:srgbClr val="00d9b8"/>
                </a:solidFill>
                <a:latin typeface="Calibri"/>
                <a:ea typeface="Calibri"/>
              </a:rPr>
              <a:t>TCP MSS clamping</a:t>
            </a: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  —  iptables на шлюзе принудительно уменьшает поле MSS в TCP SYN. Клиенты автоматически договариваются о меньших сегментах.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17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8  ·  PRACTICAL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Roaming и NAT traversal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4"/>
          <p:cNvSpPr/>
          <p:nvPr/>
        </p:nvSpPr>
        <p:spPr>
          <a:xfrm>
            <a:off x="548640" y="1737360"/>
            <a:ext cx="5531040" cy="2193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5"/>
          <p:cNvSpPr/>
          <p:nvPr/>
        </p:nvSpPr>
        <p:spPr>
          <a:xfrm>
            <a:off x="548640" y="1737360"/>
            <a:ext cx="81360" cy="21934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9" name="Image 0" descr="preencoded.png"/>
          <p:cNvPicPr/>
          <p:nvPr/>
        </p:nvPicPr>
        <p:blipFill>
          <a:blip r:embed="rId1"/>
          <a:stretch/>
        </p:blipFill>
        <p:spPr>
          <a:xfrm>
            <a:off x="822960" y="187452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550" name="Text 6"/>
          <p:cNvSpPr/>
          <p:nvPr/>
        </p:nvSpPr>
        <p:spPr>
          <a:xfrm>
            <a:off x="1371600" y="18288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293" strike="noStrike">
                <a:solidFill>
                  <a:srgbClr val="00d9b8"/>
                </a:solidFill>
                <a:latin typeface="Consolas"/>
                <a:ea typeface="Consolas"/>
              </a:rPr>
              <a:t>ROAMING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7"/>
          <p:cNvSpPr/>
          <p:nvPr/>
        </p:nvSpPr>
        <p:spPr>
          <a:xfrm>
            <a:off x="822960" y="2331720"/>
            <a:ext cx="5119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Wi-Fi дома → мобильный интернет. IP сменился. Что с VPN?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8"/>
          <p:cNvSpPr/>
          <p:nvPr/>
        </p:nvSpPr>
        <p:spPr>
          <a:xfrm>
            <a:off x="822960" y="2880360"/>
            <a:ext cx="5119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d29922"/>
                </a:solidFill>
                <a:latin typeface="Calibri"/>
                <a:ea typeface="Calibri"/>
              </a:rPr>
              <a:t>IPsec:  </a:t>
            </a: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привязка к SPI и IP. Нужен handshake заново или MOBIKE (RFC 4555).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9"/>
          <p:cNvSpPr/>
          <p:nvPr/>
        </p:nvSpPr>
        <p:spPr>
          <a:xfrm>
            <a:off x="822960" y="3337560"/>
            <a:ext cx="5119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3fb950"/>
                </a:solidFill>
                <a:latin typeface="Calibri"/>
                <a:ea typeface="Calibri"/>
              </a:rPr>
              <a:t>WireGuard:  </a:t>
            </a: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состояние на публичном ключе, а не IP. Пришёл валидный пакет — сервер обновил endpoint. Никакого handshake.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10"/>
          <p:cNvSpPr/>
          <p:nvPr/>
        </p:nvSpPr>
        <p:spPr>
          <a:xfrm>
            <a:off x="6355080" y="1737360"/>
            <a:ext cx="5531040" cy="2193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11"/>
          <p:cNvSpPr/>
          <p:nvPr/>
        </p:nvSpPr>
        <p:spPr>
          <a:xfrm>
            <a:off x="6355080" y="1737360"/>
            <a:ext cx="81360" cy="2193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6" name="Image 1" descr="preencoded.png"/>
          <p:cNvPicPr/>
          <p:nvPr/>
        </p:nvPicPr>
        <p:blipFill>
          <a:blip r:embed="rId2"/>
          <a:stretch/>
        </p:blipFill>
        <p:spPr>
          <a:xfrm>
            <a:off x="6629400" y="187452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557" name="Text 12"/>
          <p:cNvSpPr/>
          <p:nvPr/>
        </p:nvSpPr>
        <p:spPr>
          <a:xfrm>
            <a:off x="7178040" y="18288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293" strike="noStrike">
                <a:solidFill>
                  <a:srgbClr val="7c3aed"/>
                </a:solidFill>
                <a:latin typeface="Consolas"/>
                <a:ea typeface="Consolas"/>
              </a:rPr>
              <a:t>NAT TRAVERSAL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13"/>
          <p:cNvSpPr/>
          <p:nvPr/>
        </p:nvSpPr>
        <p:spPr>
          <a:xfrm>
            <a:off x="6629400" y="2331720"/>
            <a:ext cx="5119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Домашний роутер подменяет ваш приватный IP. Сервер не видит вас напрямую.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14"/>
          <p:cNvSpPr/>
          <p:nvPr/>
        </p:nvSpPr>
        <p:spPr>
          <a:xfrm>
            <a:off x="6629400" y="3017520"/>
            <a:ext cx="511956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7c3aed"/>
                </a:solidFill>
                <a:latin typeface="Calibri"/>
                <a:ea typeface="Calibri"/>
              </a:rPr>
              <a:t>UDP hole punching: </a:t>
            </a: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клиент шлёт первый пакет, NAT создаёт mapping, сервер отвечает. Нужен </a:t>
            </a:r>
            <a:r>
              <a:rPr b="1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keepalive каждые 25 сек.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15"/>
          <p:cNvSpPr/>
          <p:nvPr/>
        </p:nvSpPr>
        <p:spPr>
          <a:xfrm>
            <a:off x="548640" y="4114800"/>
            <a:ext cx="2742120" cy="1461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16"/>
          <p:cNvSpPr/>
          <p:nvPr/>
        </p:nvSpPr>
        <p:spPr>
          <a:xfrm>
            <a:off x="731520" y="4251960"/>
            <a:ext cx="246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STUN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7"/>
          <p:cNvSpPr/>
          <p:nvPr/>
        </p:nvSpPr>
        <p:spPr>
          <a:xfrm>
            <a:off x="731520" y="461772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RFC 8489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18"/>
          <p:cNvSpPr/>
          <p:nvPr/>
        </p:nvSpPr>
        <p:spPr>
          <a:xfrm>
            <a:off x="731520" y="4937760"/>
            <a:ext cx="2467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Узнать свой внешний IP:порт после NAT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19"/>
          <p:cNvSpPr/>
          <p:nvPr/>
        </p:nvSpPr>
        <p:spPr>
          <a:xfrm>
            <a:off x="3429000" y="4114800"/>
            <a:ext cx="2742120" cy="1461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20"/>
          <p:cNvSpPr/>
          <p:nvPr/>
        </p:nvSpPr>
        <p:spPr>
          <a:xfrm>
            <a:off x="3611880" y="4251960"/>
            <a:ext cx="246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TURN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21"/>
          <p:cNvSpPr/>
          <p:nvPr/>
        </p:nvSpPr>
        <p:spPr>
          <a:xfrm>
            <a:off x="3611880" y="461772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RFC 8656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22"/>
          <p:cNvSpPr/>
          <p:nvPr/>
        </p:nvSpPr>
        <p:spPr>
          <a:xfrm>
            <a:off x="3611880" y="4937760"/>
            <a:ext cx="2467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Relay-сервер когда прямое соединение невозможно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23"/>
          <p:cNvSpPr/>
          <p:nvPr/>
        </p:nvSpPr>
        <p:spPr>
          <a:xfrm>
            <a:off x="6309360" y="4114800"/>
            <a:ext cx="2742120" cy="1461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24"/>
          <p:cNvSpPr/>
          <p:nvPr/>
        </p:nvSpPr>
        <p:spPr>
          <a:xfrm>
            <a:off x="6492240" y="4251960"/>
            <a:ext cx="246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ICE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25"/>
          <p:cNvSpPr/>
          <p:nvPr/>
        </p:nvSpPr>
        <p:spPr>
          <a:xfrm>
            <a:off x="6492240" y="461772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RFC 8445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26"/>
          <p:cNvSpPr/>
          <p:nvPr/>
        </p:nvSpPr>
        <p:spPr>
          <a:xfrm>
            <a:off x="6492240" y="4937760"/>
            <a:ext cx="2467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Оркестрирует STUN/TURN, выбирает лучшую пару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Shape 27"/>
          <p:cNvSpPr/>
          <p:nvPr/>
        </p:nvSpPr>
        <p:spPr>
          <a:xfrm>
            <a:off x="9189720" y="4114800"/>
            <a:ext cx="2742120" cy="1461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28"/>
          <p:cNvSpPr/>
          <p:nvPr/>
        </p:nvSpPr>
        <p:spPr>
          <a:xfrm>
            <a:off x="9372600" y="4251960"/>
            <a:ext cx="246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IPsec NAT-T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29"/>
          <p:cNvSpPr/>
          <p:nvPr/>
        </p:nvSpPr>
        <p:spPr>
          <a:xfrm>
            <a:off x="9372600" y="461772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RFC 3948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30"/>
          <p:cNvSpPr/>
          <p:nvPr/>
        </p:nvSpPr>
        <p:spPr>
          <a:xfrm>
            <a:off x="9372600" y="4937760"/>
            <a:ext cx="2467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ESP в UDP/4500 для прохождения через NAT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Shape 31"/>
          <p:cNvSpPr/>
          <p:nvPr/>
        </p:nvSpPr>
        <p:spPr>
          <a:xfrm>
            <a:off x="548640" y="5852160"/>
            <a:ext cx="11063160" cy="68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32"/>
          <p:cNvSpPr/>
          <p:nvPr/>
        </p:nvSpPr>
        <p:spPr>
          <a:xfrm>
            <a:off x="777240" y="5852160"/>
            <a:ext cx="10788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3fb950"/>
                </a:solidFill>
                <a:latin typeface="Calibri"/>
                <a:ea typeface="Calibri"/>
              </a:rPr>
              <a:t>Tailscale → DERP: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свой relay на HTTPS/443. Сервер </a:t>
            </a:r>
            <a:r>
              <a:rPr b="0" i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видит только зашифрованные байты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 — «dumb pipe for ciphertext». E2E сохраняется.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18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9  ·  IPv6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IPv6 и VPN — проблема утечек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548640" y="1737360"/>
            <a:ext cx="5028120" cy="1919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5"/>
          <p:cNvSpPr/>
          <p:nvPr/>
        </p:nvSpPr>
        <p:spPr>
          <a:xfrm>
            <a:off x="548640" y="1737360"/>
            <a:ext cx="81360" cy="19191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3" name="Image 0" descr="preencoded.png"/>
          <p:cNvPicPr/>
          <p:nvPr/>
        </p:nvPicPr>
        <p:blipFill>
          <a:blip r:embed="rId1"/>
          <a:stretch/>
        </p:blipFill>
        <p:spPr>
          <a:xfrm>
            <a:off x="777240" y="187452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584" name="Text 6"/>
          <p:cNvSpPr/>
          <p:nvPr/>
        </p:nvSpPr>
        <p:spPr>
          <a:xfrm>
            <a:off x="1280160" y="182880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194" strike="noStrike">
                <a:solidFill>
                  <a:srgbClr val="3fb950"/>
                </a:solidFill>
                <a:latin typeface="Consolas"/>
                <a:ea typeface="Consolas"/>
              </a:rPr>
              <a:t>IPv6 ПОДДЕРЖИВАЕТСЯ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7"/>
          <p:cNvSpPr/>
          <p:nvPr/>
        </p:nvSpPr>
        <p:spPr>
          <a:xfrm>
            <a:off x="777240" y="2286000"/>
            <a:ext cx="4753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всеми современными VPN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8"/>
          <p:cNvSpPr/>
          <p:nvPr/>
        </p:nvSpPr>
        <p:spPr>
          <a:xfrm>
            <a:off x="777240" y="2606040"/>
            <a:ext cx="4753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WireGuard  —  AllowedIPs = 0.0.0.0/0, ::/0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9"/>
          <p:cNvSpPr/>
          <p:nvPr/>
        </p:nvSpPr>
        <p:spPr>
          <a:xfrm>
            <a:off x="777240" y="2926080"/>
            <a:ext cx="4753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IPsec  —  с самого начала (RFC 4301)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0"/>
          <p:cNvSpPr/>
          <p:nvPr/>
        </p:nvSpPr>
        <p:spPr>
          <a:xfrm>
            <a:off x="777240" y="3246120"/>
            <a:ext cx="4753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OpenVPN  —  с версии 2.3 (2013)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11"/>
          <p:cNvSpPr/>
          <p:nvPr/>
        </p:nvSpPr>
        <p:spPr>
          <a:xfrm>
            <a:off x="5943600" y="1737360"/>
            <a:ext cx="5668200" cy="4845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12"/>
          <p:cNvSpPr/>
          <p:nvPr/>
        </p:nvSpPr>
        <p:spPr>
          <a:xfrm>
            <a:off x="5943600" y="1737360"/>
            <a:ext cx="81360" cy="48452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1" name="Image 1" descr="preencoded.png"/>
          <p:cNvPicPr/>
          <p:nvPr/>
        </p:nvPicPr>
        <p:blipFill>
          <a:blip r:embed="rId2"/>
          <a:stretch/>
        </p:blipFill>
        <p:spPr>
          <a:xfrm>
            <a:off x="6172200" y="187452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592" name="Text 13"/>
          <p:cNvSpPr/>
          <p:nvPr/>
        </p:nvSpPr>
        <p:spPr>
          <a:xfrm>
            <a:off x="6675120" y="1828800"/>
            <a:ext cx="4388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194" strike="noStrike">
                <a:solidFill>
                  <a:srgbClr val="f85149"/>
                </a:solidFill>
                <a:latin typeface="Consolas"/>
                <a:ea typeface="Consolas"/>
              </a:rPr>
              <a:t>IPv6 LEAK — РЕАЛЬНАЯ УГРОЗА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Shape 14"/>
          <p:cNvSpPr/>
          <p:nvPr/>
        </p:nvSpPr>
        <p:spPr>
          <a:xfrm>
            <a:off x="6172200" y="2377440"/>
            <a:ext cx="318960" cy="3189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15"/>
          <p:cNvSpPr/>
          <p:nvPr/>
        </p:nvSpPr>
        <p:spPr>
          <a:xfrm>
            <a:off x="6172200" y="23774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f85149"/>
                </a:solidFill>
                <a:latin typeface="Arial Black"/>
                <a:ea typeface="Arial Black"/>
              </a:rPr>
              <a:t>1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16"/>
          <p:cNvSpPr/>
          <p:nvPr/>
        </p:nvSpPr>
        <p:spPr>
          <a:xfrm>
            <a:off x="6629400" y="2377440"/>
            <a:ext cx="4799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VPN-клиент туннелирует только IPv4 (0.0.0.0/0)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Shape 17"/>
          <p:cNvSpPr/>
          <p:nvPr/>
        </p:nvSpPr>
        <p:spPr>
          <a:xfrm>
            <a:off x="6172200" y="2907720"/>
            <a:ext cx="318960" cy="3189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18"/>
          <p:cNvSpPr/>
          <p:nvPr/>
        </p:nvSpPr>
        <p:spPr>
          <a:xfrm>
            <a:off x="6172200" y="29077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f85149"/>
                </a:solidFill>
                <a:latin typeface="Arial Black"/>
                <a:ea typeface="Arial Black"/>
              </a:rPr>
              <a:t>2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19"/>
          <p:cNvSpPr/>
          <p:nvPr/>
        </p:nvSpPr>
        <p:spPr>
          <a:xfrm>
            <a:off x="6629400" y="2907720"/>
            <a:ext cx="4799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Хост в dual-stack сети имеет рабочий IPv6 от ISP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20"/>
          <p:cNvSpPr/>
          <p:nvPr/>
        </p:nvSpPr>
        <p:spPr>
          <a:xfrm>
            <a:off x="6172200" y="3438000"/>
            <a:ext cx="318960" cy="3189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21"/>
          <p:cNvSpPr/>
          <p:nvPr/>
        </p:nvSpPr>
        <p:spPr>
          <a:xfrm>
            <a:off x="6172200" y="34380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f85149"/>
                </a:solidFill>
                <a:latin typeface="Arial Black"/>
                <a:ea typeface="Arial Black"/>
              </a:rPr>
              <a:t>3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22"/>
          <p:cNvSpPr/>
          <p:nvPr/>
        </p:nvSpPr>
        <p:spPr>
          <a:xfrm>
            <a:off x="6629400" y="3438000"/>
            <a:ext cx="4799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Пользователь открывает youtube.com (AAAA + A)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23"/>
          <p:cNvSpPr/>
          <p:nvPr/>
        </p:nvSpPr>
        <p:spPr>
          <a:xfrm>
            <a:off x="6172200" y="3968640"/>
            <a:ext cx="318960" cy="3189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24"/>
          <p:cNvSpPr/>
          <p:nvPr/>
        </p:nvSpPr>
        <p:spPr>
          <a:xfrm>
            <a:off x="6172200" y="39686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f85149"/>
                </a:solidFill>
                <a:latin typeface="Arial Black"/>
                <a:ea typeface="Arial Black"/>
              </a:rPr>
              <a:t>4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 25"/>
          <p:cNvSpPr/>
          <p:nvPr/>
        </p:nvSpPr>
        <p:spPr>
          <a:xfrm>
            <a:off x="6629400" y="3968640"/>
            <a:ext cx="4799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Happy Eyeballs (RFC 8305) предпочитает IPv6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26"/>
          <p:cNvSpPr/>
          <p:nvPr/>
        </p:nvSpPr>
        <p:spPr>
          <a:xfrm>
            <a:off x="6172200" y="4498920"/>
            <a:ext cx="318960" cy="3189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27"/>
          <p:cNvSpPr/>
          <p:nvPr/>
        </p:nvSpPr>
        <p:spPr>
          <a:xfrm>
            <a:off x="6172200" y="44989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f85149"/>
                </a:solidFill>
                <a:latin typeface="Arial Black"/>
                <a:ea typeface="Arial Black"/>
              </a:rPr>
              <a:t>5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28"/>
          <p:cNvSpPr/>
          <p:nvPr/>
        </p:nvSpPr>
        <p:spPr>
          <a:xfrm>
            <a:off x="6629400" y="4498920"/>
            <a:ext cx="4799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IPv6-запрос идёт МИМО туннеля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29"/>
          <p:cNvSpPr/>
          <p:nvPr/>
        </p:nvSpPr>
        <p:spPr>
          <a:xfrm>
            <a:off x="6172200" y="5029200"/>
            <a:ext cx="318960" cy="3189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30"/>
          <p:cNvSpPr/>
          <p:nvPr/>
        </p:nvSpPr>
        <p:spPr>
          <a:xfrm>
            <a:off x="6172200" y="50292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f85149"/>
                </a:solidFill>
                <a:latin typeface="Arial Black"/>
                <a:ea typeface="Arial Black"/>
              </a:rPr>
              <a:t>6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31"/>
          <p:cNvSpPr/>
          <p:nvPr/>
        </p:nvSpPr>
        <p:spPr>
          <a:xfrm>
            <a:off x="6629400" y="5029200"/>
            <a:ext cx="4799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Реальный IPv6-адрес пользователя утёк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hape 32"/>
          <p:cNvSpPr/>
          <p:nvPr/>
        </p:nvSpPr>
        <p:spPr>
          <a:xfrm>
            <a:off x="6172200" y="5760720"/>
            <a:ext cx="5303520" cy="360"/>
          </a:xfrm>
          <a:prstGeom prst="line">
            <a:avLst/>
          </a:prstGeom>
          <a:ln w="12700">
            <a:solidFill>
              <a:srgbClr val="3036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33"/>
          <p:cNvSpPr/>
          <p:nvPr/>
        </p:nvSpPr>
        <p:spPr>
          <a:xfrm>
            <a:off x="6172200" y="5852160"/>
            <a:ext cx="5302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Почему многие клиенты принудительно отключают IPv6 — простое, но неправильное решение.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Shape 34"/>
          <p:cNvSpPr/>
          <p:nvPr/>
        </p:nvSpPr>
        <p:spPr>
          <a:xfrm>
            <a:off x="548640" y="3931920"/>
            <a:ext cx="5028120" cy="2650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35"/>
          <p:cNvSpPr/>
          <p:nvPr/>
        </p:nvSpPr>
        <p:spPr>
          <a:xfrm>
            <a:off x="777240" y="406908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3fb950"/>
                </a:solidFill>
                <a:latin typeface="Consolas"/>
                <a:ea typeface="Consolas"/>
              </a:rPr>
              <a:t>ПРАВИЛЬНО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36"/>
          <p:cNvSpPr/>
          <p:nvPr/>
        </p:nvSpPr>
        <p:spPr>
          <a:xfrm>
            <a:off x="777240" y="4526280"/>
            <a:ext cx="364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3fb950"/>
                </a:solidFill>
                <a:latin typeface="Consolas"/>
                <a:ea typeface="Consolas"/>
              </a:rPr>
              <a:t>1.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37"/>
          <p:cNvSpPr/>
          <p:nvPr/>
        </p:nvSpPr>
        <p:spPr>
          <a:xfrm>
            <a:off x="1188720" y="4526280"/>
            <a:ext cx="4205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AllowedIPs = 0.0.0.0/0, ::/0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38"/>
          <p:cNvSpPr/>
          <p:nvPr/>
        </p:nvSpPr>
        <p:spPr>
          <a:xfrm>
            <a:off x="777240" y="5074920"/>
            <a:ext cx="364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3fb950"/>
                </a:solidFill>
                <a:latin typeface="Consolas"/>
                <a:ea typeface="Consolas"/>
              </a:rPr>
              <a:t>2.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39"/>
          <p:cNvSpPr/>
          <p:nvPr/>
        </p:nvSpPr>
        <p:spPr>
          <a:xfrm>
            <a:off x="1188720" y="5074920"/>
            <a:ext cx="4205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Firewall-правило: drop IPv6 вне туннеля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40"/>
          <p:cNvSpPr/>
          <p:nvPr/>
        </p:nvSpPr>
        <p:spPr>
          <a:xfrm>
            <a:off x="777240" y="5623560"/>
            <a:ext cx="364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3fb950"/>
                </a:solidFill>
                <a:latin typeface="Consolas"/>
                <a:ea typeface="Consolas"/>
              </a:rPr>
              <a:t>3.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1"/>
          <p:cNvSpPr/>
          <p:nvPr/>
        </p:nvSpPr>
        <p:spPr>
          <a:xfrm>
            <a:off x="1188720" y="5623560"/>
            <a:ext cx="4205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Проверить: ipleak.net, browserleaks.com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19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9  ·  IPv6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IPv6 в 2026 — перевалили за 50%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Shape 4"/>
          <p:cNvSpPr/>
          <p:nvPr/>
        </p:nvSpPr>
        <p:spPr>
          <a:xfrm>
            <a:off x="548640" y="1737360"/>
            <a:ext cx="5759640" cy="2010600"/>
          </a:xfrm>
          <a:prstGeom prst="rect">
            <a:avLst/>
          </a:prstGeom>
          <a:solidFill>
            <a:srgbClr val="1c2128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5"/>
          <p:cNvSpPr/>
          <p:nvPr/>
        </p:nvSpPr>
        <p:spPr>
          <a:xfrm>
            <a:off x="548640" y="1828800"/>
            <a:ext cx="57596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7600" spc="-1" strike="noStrike">
                <a:solidFill>
                  <a:srgbClr val="00d9b8"/>
                </a:solidFill>
                <a:latin typeface="Arial Black"/>
                <a:ea typeface="Arial Black"/>
              </a:rPr>
              <a:t>50.1%</a:t>
            </a:r>
            <a:endParaRPr b="0" lang="ru-RU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 6"/>
          <p:cNvSpPr/>
          <p:nvPr/>
        </p:nvSpPr>
        <p:spPr>
          <a:xfrm>
            <a:off x="548640" y="2743200"/>
            <a:ext cx="5759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глобального трафика Google по IPv6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7"/>
          <p:cNvSpPr/>
          <p:nvPr/>
        </p:nvSpPr>
        <p:spPr>
          <a:xfrm>
            <a:off x="548640" y="3108960"/>
            <a:ext cx="5759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194" strike="noStrike">
                <a:solidFill>
                  <a:srgbClr val="8b949e"/>
                </a:solidFill>
                <a:latin typeface="Consolas"/>
                <a:ea typeface="Consolas"/>
              </a:rPr>
              <a:t>28 марта 2026  —  исторический рубеж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8"/>
          <p:cNvSpPr/>
          <p:nvPr/>
        </p:nvSpPr>
        <p:spPr>
          <a:xfrm>
            <a:off x="548640" y="3429000"/>
            <a:ext cx="5759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годом ранее: 46.33%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9"/>
          <p:cNvSpPr/>
          <p:nvPr/>
        </p:nvSpPr>
        <p:spPr>
          <a:xfrm>
            <a:off x="6583680" y="1737360"/>
            <a:ext cx="5028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8b949e"/>
                </a:solidFill>
                <a:latin typeface="Consolas"/>
                <a:ea typeface="Consolas"/>
              </a:rPr>
              <a:t>ПО СТРАНАМ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10"/>
          <p:cNvSpPr/>
          <p:nvPr/>
        </p:nvSpPr>
        <p:spPr>
          <a:xfrm>
            <a:off x="6583680" y="2148840"/>
            <a:ext cx="1736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Франция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11"/>
          <p:cNvSpPr/>
          <p:nvPr/>
        </p:nvSpPr>
        <p:spPr>
          <a:xfrm>
            <a:off x="8503920" y="2185560"/>
            <a:ext cx="2559240" cy="18180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Shape 12"/>
          <p:cNvSpPr/>
          <p:nvPr/>
        </p:nvSpPr>
        <p:spPr>
          <a:xfrm>
            <a:off x="8503920" y="2185560"/>
            <a:ext cx="2200680" cy="1818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 13"/>
          <p:cNvSpPr/>
          <p:nvPr/>
        </p:nvSpPr>
        <p:spPr>
          <a:xfrm>
            <a:off x="11155680" y="2148840"/>
            <a:ext cx="730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86%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14"/>
          <p:cNvSpPr/>
          <p:nvPr/>
        </p:nvSpPr>
        <p:spPr>
          <a:xfrm>
            <a:off x="6583680" y="2477880"/>
            <a:ext cx="1736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Германия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15"/>
          <p:cNvSpPr/>
          <p:nvPr/>
        </p:nvSpPr>
        <p:spPr>
          <a:xfrm>
            <a:off x="8503920" y="2514600"/>
            <a:ext cx="2559240" cy="18180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Shape 16"/>
          <p:cNvSpPr/>
          <p:nvPr/>
        </p:nvSpPr>
        <p:spPr>
          <a:xfrm>
            <a:off x="8503920" y="2514600"/>
            <a:ext cx="1919160" cy="1818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17"/>
          <p:cNvSpPr/>
          <p:nvPr/>
        </p:nvSpPr>
        <p:spPr>
          <a:xfrm>
            <a:off x="11155680" y="2477880"/>
            <a:ext cx="730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75%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18"/>
          <p:cNvSpPr/>
          <p:nvPr/>
        </p:nvSpPr>
        <p:spPr>
          <a:xfrm>
            <a:off x="6583680" y="2807280"/>
            <a:ext cx="1736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Индия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9"/>
          <p:cNvSpPr/>
          <p:nvPr/>
        </p:nvSpPr>
        <p:spPr>
          <a:xfrm>
            <a:off x="8503920" y="2843640"/>
            <a:ext cx="2559240" cy="18180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Shape 20"/>
          <p:cNvSpPr/>
          <p:nvPr/>
        </p:nvSpPr>
        <p:spPr>
          <a:xfrm>
            <a:off x="8503920" y="2843640"/>
            <a:ext cx="1893600" cy="1818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21"/>
          <p:cNvSpPr/>
          <p:nvPr/>
        </p:nvSpPr>
        <p:spPr>
          <a:xfrm>
            <a:off x="11155680" y="2807280"/>
            <a:ext cx="730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3fb950"/>
                </a:solidFill>
                <a:latin typeface="Consolas"/>
                <a:ea typeface="Consolas"/>
              </a:rPr>
              <a:t>74%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22"/>
          <p:cNvSpPr/>
          <p:nvPr/>
        </p:nvSpPr>
        <p:spPr>
          <a:xfrm>
            <a:off x="6583680" y="3136320"/>
            <a:ext cx="1736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США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Shape 23"/>
          <p:cNvSpPr/>
          <p:nvPr/>
        </p:nvSpPr>
        <p:spPr>
          <a:xfrm>
            <a:off x="8503920" y="3173040"/>
            <a:ext cx="2559240" cy="18180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Shape 24"/>
          <p:cNvSpPr/>
          <p:nvPr/>
        </p:nvSpPr>
        <p:spPr>
          <a:xfrm>
            <a:off x="8503920" y="3173040"/>
            <a:ext cx="1407240" cy="1818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25"/>
          <p:cNvSpPr/>
          <p:nvPr/>
        </p:nvSpPr>
        <p:spPr>
          <a:xfrm>
            <a:off x="11155680" y="3136320"/>
            <a:ext cx="730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55%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 26"/>
          <p:cNvSpPr/>
          <p:nvPr/>
        </p:nvSpPr>
        <p:spPr>
          <a:xfrm>
            <a:off x="6583680" y="3465720"/>
            <a:ext cx="1736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Китай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Shape 27"/>
          <p:cNvSpPr/>
          <p:nvPr/>
        </p:nvSpPr>
        <p:spPr>
          <a:xfrm>
            <a:off x="8503920" y="3502080"/>
            <a:ext cx="2559240" cy="18180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28"/>
          <p:cNvSpPr/>
          <p:nvPr/>
        </p:nvSpPr>
        <p:spPr>
          <a:xfrm>
            <a:off x="8503920" y="3502080"/>
            <a:ext cx="1150920" cy="1818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29"/>
          <p:cNvSpPr/>
          <p:nvPr/>
        </p:nvSpPr>
        <p:spPr>
          <a:xfrm>
            <a:off x="11155680" y="3465720"/>
            <a:ext cx="730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d29922"/>
                </a:solidFill>
                <a:latin typeface="Consolas"/>
                <a:ea typeface="Consolas"/>
              </a:rPr>
              <a:t>45%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30"/>
          <p:cNvSpPr/>
          <p:nvPr/>
        </p:nvSpPr>
        <p:spPr>
          <a:xfrm>
            <a:off x="6583680" y="3794760"/>
            <a:ext cx="1736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Россия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Shape 31"/>
          <p:cNvSpPr/>
          <p:nvPr/>
        </p:nvSpPr>
        <p:spPr>
          <a:xfrm>
            <a:off x="8503920" y="3831480"/>
            <a:ext cx="2559240" cy="181800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32"/>
          <p:cNvSpPr/>
          <p:nvPr/>
        </p:nvSpPr>
        <p:spPr>
          <a:xfrm>
            <a:off x="8503920" y="3831480"/>
            <a:ext cx="331920" cy="181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33"/>
          <p:cNvSpPr/>
          <p:nvPr/>
        </p:nvSpPr>
        <p:spPr>
          <a:xfrm>
            <a:off x="11155680" y="3794760"/>
            <a:ext cx="730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f85149"/>
                </a:solidFill>
                <a:latin typeface="Consolas"/>
                <a:ea typeface="Consolas"/>
              </a:rPr>
              <a:t>13%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Shape 34"/>
          <p:cNvSpPr/>
          <p:nvPr/>
        </p:nvSpPr>
        <p:spPr>
          <a:xfrm>
            <a:off x="548640" y="4297680"/>
            <a:ext cx="11063160" cy="2284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35"/>
          <p:cNvSpPr/>
          <p:nvPr/>
        </p:nvSpPr>
        <p:spPr>
          <a:xfrm>
            <a:off x="777240" y="4389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400" spc="-1" strike="noStrike">
                <a:solidFill>
                  <a:srgbClr val="e6edf3"/>
                </a:solidFill>
                <a:latin typeface="Arial Black"/>
                <a:ea typeface="Arial Black"/>
              </a:rPr>
              <a:t>ТЕНДЕНЦИИ:  IPv6-only сети — новая норма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36"/>
          <p:cNvSpPr/>
          <p:nvPr/>
        </p:nvSpPr>
        <p:spPr>
          <a:xfrm>
            <a:off x="777240" y="484632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2014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37"/>
          <p:cNvSpPr/>
          <p:nvPr/>
        </p:nvSpPr>
        <p:spPr>
          <a:xfrm>
            <a:off x="1463040" y="4846320"/>
            <a:ext cx="2010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Arial Black"/>
                <a:ea typeface="Arial Black"/>
              </a:rPr>
              <a:t>T-Mobile US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38"/>
          <p:cNvSpPr/>
          <p:nvPr/>
        </p:nvSpPr>
        <p:spPr>
          <a:xfrm>
            <a:off x="3566160" y="484632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мобильное ядро IPv6-only, IPv4 через 464XLAT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39"/>
          <p:cNvSpPr/>
          <p:nvPr/>
        </p:nvSpPr>
        <p:spPr>
          <a:xfrm>
            <a:off x="777240" y="524880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2014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40"/>
          <p:cNvSpPr/>
          <p:nvPr/>
        </p:nvSpPr>
        <p:spPr>
          <a:xfrm>
            <a:off x="1463040" y="5248800"/>
            <a:ext cx="2010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Arial Black"/>
                <a:ea typeface="Arial Black"/>
              </a:rPr>
              <a:t>Facebook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41"/>
          <p:cNvSpPr/>
          <p:nvPr/>
        </p:nvSpPr>
        <p:spPr>
          <a:xfrm>
            <a:off x="3566160" y="524880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внутренний бэкенд IPv6-only, &gt;60% external US по IPv6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42"/>
          <p:cNvSpPr/>
          <p:nvPr/>
        </p:nvSpPr>
        <p:spPr>
          <a:xfrm>
            <a:off x="777240" y="565092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2016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43"/>
          <p:cNvSpPr/>
          <p:nvPr/>
        </p:nvSpPr>
        <p:spPr>
          <a:xfrm>
            <a:off x="1463040" y="5650920"/>
            <a:ext cx="2010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Arial Black"/>
                <a:ea typeface="Arial Black"/>
              </a:rPr>
              <a:t>Apple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44"/>
          <p:cNvSpPr/>
          <p:nvPr/>
        </p:nvSpPr>
        <p:spPr>
          <a:xfrm>
            <a:off x="3566160" y="565092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требует от App Store работы в IPv6-only + NAT64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45"/>
          <p:cNvSpPr/>
          <p:nvPr/>
        </p:nvSpPr>
        <p:spPr>
          <a:xfrm>
            <a:off x="777240" y="605340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2020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46"/>
          <p:cNvSpPr/>
          <p:nvPr/>
        </p:nvSpPr>
        <p:spPr>
          <a:xfrm>
            <a:off x="1463040" y="6053400"/>
            <a:ext cx="2010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Arial Black"/>
                <a:ea typeface="Arial Black"/>
              </a:rPr>
              <a:t>Microsoft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47"/>
          <p:cNvSpPr/>
          <p:nvPr/>
        </p:nvSpPr>
        <p:spPr>
          <a:xfrm>
            <a:off x="3566160" y="605340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корпоративная сеть IPv6-only (NANOG)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20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10  ·  КОРПОРАТИВНО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От castle-and-moat к Zero Trust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1" name="Image 0" descr="preencoded.png"/>
          <p:cNvPicPr/>
          <p:nvPr/>
        </p:nvPicPr>
        <p:blipFill>
          <a:blip r:embed="rId1"/>
          <a:stretch/>
        </p:blipFill>
        <p:spPr>
          <a:xfrm>
            <a:off x="548640" y="182880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672" name="Text 4"/>
          <p:cNvSpPr/>
          <p:nvPr/>
        </p:nvSpPr>
        <p:spPr>
          <a:xfrm>
            <a:off x="1143000" y="1828800"/>
            <a:ext cx="10057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e6edf3"/>
                </a:solidFill>
                <a:latin typeface="Arial Black"/>
                <a:ea typeface="Arial Black"/>
              </a:rPr>
              <a:t>КЛАССИЧЕСКИЙ VPN  —  «замок и ров»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5"/>
          <p:cNvSpPr/>
          <p:nvPr/>
        </p:nvSpPr>
        <p:spPr>
          <a:xfrm>
            <a:off x="548640" y="2331720"/>
            <a:ext cx="10971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Сотрудник авторизовался → получил доступ ко всей внутренней сети. «Если ты внутри замка, ты доверенный.»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6"/>
          <p:cNvSpPr/>
          <p:nvPr/>
        </p:nvSpPr>
        <p:spPr>
          <a:xfrm>
            <a:off x="548640" y="2926080"/>
            <a:ext cx="11063160" cy="913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5" name="Image 1" descr="preencoded.png"/>
          <p:cNvPicPr/>
          <p:nvPr/>
        </p:nvPicPr>
        <p:blipFill>
          <a:blip r:embed="rId2"/>
          <a:stretch/>
        </p:blipFill>
        <p:spPr>
          <a:xfrm>
            <a:off x="777240" y="31089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676" name="Text 7"/>
          <p:cNvSpPr/>
          <p:nvPr/>
        </p:nvSpPr>
        <p:spPr>
          <a:xfrm>
            <a:off x="1371600" y="2926080"/>
            <a:ext cx="10240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f85149"/>
                </a:solidFill>
                <a:latin typeface="Calibri"/>
                <a:ea typeface="Calibri"/>
              </a:rPr>
              <a:t>2009 · Operation Aurora. 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Китайские хакеры получили доступ к Google через один заражённый ноутбук и пошли по ВСЕЙ инфраструктуре. </a:t>
            </a:r>
            <a:r>
              <a:rPr b="0" i="1" lang="ru-RU" sz="1300" spc="-1" strike="noStrike">
                <a:solidFill>
                  <a:srgbClr val="d29922"/>
                </a:solidFill>
                <a:latin typeface="Calibri"/>
                <a:ea typeface="Calibri"/>
              </a:rPr>
              <a:t>Один взломанный сотрудник = вся сеть скомпрометирована. Периметр не работает.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8"/>
          <p:cNvSpPr/>
          <p:nvPr/>
        </p:nvSpPr>
        <p:spPr>
          <a:xfrm>
            <a:off x="548640" y="4023360"/>
            <a:ext cx="1106316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9"/>
          <p:cNvSpPr/>
          <p:nvPr/>
        </p:nvSpPr>
        <p:spPr>
          <a:xfrm>
            <a:off x="777240" y="4023360"/>
            <a:ext cx="10788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Ответ Google — BeyondCorp (USENIX 2014).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Отказ от деления «внутри / снаружи». К 2016: все 54 000 сотрудников, VPN отключили.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 10"/>
          <p:cNvSpPr/>
          <p:nvPr/>
        </p:nvSpPr>
        <p:spPr>
          <a:xfrm>
            <a:off x="548640" y="466344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194" strike="noStrike">
                <a:solidFill>
                  <a:srgbClr val="00d9b8"/>
                </a:solidFill>
                <a:latin typeface="Consolas"/>
                <a:ea typeface="Consolas"/>
              </a:rPr>
              <a:t>NIST SP 800-207  ·  Zero Trust Architecture (август 2020)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Shape 11"/>
          <p:cNvSpPr/>
          <p:nvPr/>
        </p:nvSpPr>
        <p:spPr>
          <a:xfrm>
            <a:off x="548640" y="5120640"/>
            <a:ext cx="227520" cy="227520"/>
          </a:xfrm>
          <a:prstGeom prst="ellipse">
            <a:avLst/>
          </a:prstGeom>
          <a:solidFill>
            <a:srgbClr val="00d9b8">
              <a:alpha val="40000"/>
            </a:srgbClr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12"/>
          <p:cNvSpPr/>
          <p:nvPr/>
        </p:nvSpPr>
        <p:spPr>
          <a:xfrm>
            <a:off x="548640" y="5120640"/>
            <a:ext cx="227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-1" strike="noStrike">
                <a:solidFill>
                  <a:srgbClr val="00d9b8"/>
                </a:solidFill>
                <a:latin typeface="Arial Black"/>
                <a:ea typeface="Arial Black"/>
              </a:rPr>
              <a:t>1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 13"/>
          <p:cNvSpPr/>
          <p:nvPr/>
        </p:nvSpPr>
        <p:spPr>
          <a:xfrm>
            <a:off x="868680" y="5074920"/>
            <a:ext cx="50281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Все ресурсы считаются защищаемыми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14"/>
          <p:cNvSpPr/>
          <p:nvPr/>
        </p:nvSpPr>
        <p:spPr>
          <a:xfrm>
            <a:off x="6217920" y="5120640"/>
            <a:ext cx="227520" cy="227520"/>
          </a:xfrm>
          <a:prstGeom prst="ellipse">
            <a:avLst/>
          </a:prstGeom>
          <a:solidFill>
            <a:srgbClr val="00d9b8">
              <a:alpha val="40000"/>
            </a:srgbClr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15"/>
          <p:cNvSpPr/>
          <p:nvPr/>
        </p:nvSpPr>
        <p:spPr>
          <a:xfrm>
            <a:off x="6217920" y="5120640"/>
            <a:ext cx="227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-1" strike="noStrike">
                <a:solidFill>
                  <a:srgbClr val="00d9b8"/>
                </a:solidFill>
                <a:latin typeface="Arial Black"/>
                <a:ea typeface="Arial Black"/>
              </a:rPr>
              <a:t>2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16"/>
          <p:cNvSpPr/>
          <p:nvPr/>
        </p:nvSpPr>
        <p:spPr>
          <a:xfrm>
            <a:off x="6537960" y="5074920"/>
            <a:ext cx="50281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Все коммуникации защищены вне зависимости от места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Shape 17"/>
          <p:cNvSpPr/>
          <p:nvPr/>
        </p:nvSpPr>
        <p:spPr>
          <a:xfrm>
            <a:off x="548640" y="5541120"/>
            <a:ext cx="227520" cy="227520"/>
          </a:xfrm>
          <a:prstGeom prst="ellipse">
            <a:avLst/>
          </a:prstGeom>
          <a:solidFill>
            <a:srgbClr val="00d9b8">
              <a:alpha val="40000"/>
            </a:srgbClr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18"/>
          <p:cNvSpPr/>
          <p:nvPr/>
        </p:nvSpPr>
        <p:spPr>
          <a:xfrm>
            <a:off x="548640" y="5541120"/>
            <a:ext cx="227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-1" strike="noStrike">
                <a:solidFill>
                  <a:srgbClr val="00d9b8"/>
                </a:solidFill>
                <a:latin typeface="Arial Black"/>
                <a:ea typeface="Arial Black"/>
              </a:rPr>
              <a:t>3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Text 19"/>
          <p:cNvSpPr/>
          <p:nvPr/>
        </p:nvSpPr>
        <p:spPr>
          <a:xfrm>
            <a:off x="868680" y="5495400"/>
            <a:ext cx="50281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Доступ per-session (одна сессия = один акт проверки)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Shape 20"/>
          <p:cNvSpPr/>
          <p:nvPr/>
        </p:nvSpPr>
        <p:spPr>
          <a:xfrm>
            <a:off x="6217920" y="5541120"/>
            <a:ext cx="227520" cy="227520"/>
          </a:xfrm>
          <a:prstGeom prst="ellipse">
            <a:avLst/>
          </a:prstGeom>
          <a:solidFill>
            <a:srgbClr val="00d9b8">
              <a:alpha val="40000"/>
            </a:srgbClr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21"/>
          <p:cNvSpPr/>
          <p:nvPr/>
        </p:nvSpPr>
        <p:spPr>
          <a:xfrm>
            <a:off x="6217920" y="5541120"/>
            <a:ext cx="227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-1" strike="noStrike">
                <a:solidFill>
                  <a:srgbClr val="00d9b8"/>
                </a:solidFill>
                <a:latin typeface="Arial Black"/>
                <a:ea typeface="Arial Black"/>
              </a:rPr>
              <a:t>4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22"/>
          <p:cNvSpPr/>
          <p:nvPr/>
        </p:nvSpPr>
        <p:spPr>
          <a:xfrm>
            <a:off x="6537960" y="5495400"/>
            <a:ext cx="50281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Политика динамическая: identity + device + context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23"/>
          <p:cNvSpPr/>
          <p:nvPr/>
        </p:nvSpPr>
        <p:spPr>
          <a:xfrm>
            <a:off x="548640" y="5961960"/>
            <a:ext cx="227520" cy="227520"/>
          </a:xfrm>
          <a:prstGeom prst="ellipse">
            <a:avLst/>
          </a:prstGeom>
          <a:solidFill>
            <a:srgbClr val="00d9b8">
              <a:alpha val="40000"/>
            </a:srgbClr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24"/>
          <p:cNvSpPr/>
          <p:nvPr/>
        </p:nvSpPr>
        <p:spPr>
          <a:xfrm>
            <a:off x="548640" y="5961960"/>
            <a:ext cx="227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-1" strike="noStrike">
                <a:solidFill>
                  <a:srgbClr val="00d9b8"/>
                </a:solidFill>
                <a:latin typeface="Arial Black"/>
                <a:ea typeface="Arial Black"/>
              </a:rPr>
              <a:t>5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25"/>
          <p:cNvSpPr/>
          <p:nvPr/>
        </p:nvSpPr>
        <p:spPr>
          <a:xfrm>
            <a:off x="868680" y="5916240"/>
            <a:ext cx="50281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Постоянный мониторинг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Shape 26"/>
          <p:cNvSpPr/>
          <p:nvPr/>
        </p:nvSpPr>
        <p:spPr>
          <a:xfrm>
            <a:off x="6217920" y="5961960"/>
            <a:ext cx="227520" cy="227520"/>
          </a:xfrm>
          <a:prstGeom prst="ellipse">
            <a:avLst/>
          </a:prstGeom>
          <a:solidFill>
            <a:srgbClr val="00d9b8">
              <a:alpha val="40000"/>
            </a:srgbClr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27"/>
          <p:cNvSpPr/>
          <p:nvPr/>
        </p:nvSpPr>
        <p:spPr>
          <a:xfrm>
            <a:off x="6217920" y="5961960"/>
            <a:ext cx="227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-1" strike="noStrike">
                <a:solidFill>
                  <a:srgbClr val="00d9b8"/>
                </a:solidFill>
                <a:latin typeface="Arial Black"/>
                <a:ea typeface="Arial Black"/>
              </a:rPr>
              <a:t>6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28"/>
          <p:cNvSpPr/>
          <p:nvPr/>
        </p:nvSpPr>
        <p:spPr>
          <a:xfrm>
            <a:off x="6537960" y="5916240"/>
            <a:ext cx="502812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Аутентификация ДО установления сессии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21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10  ·  КОРПОРАТИВНО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VPN vs ZTNA, и что такое SASE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Shape 4"/>
          <p:cNvSpPr/>
          <p:nvPr/>
        </p:nvSpPr>
        <p:spPr>
          <a:xfrm>
            <a:off x="548640" y="1737360"/>
            <a:ext cx="292500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5"/>
          <p:cNvSpPr/>
          <p:nvPr/>
        </p:nvSpPr>
        <p:spPr>
          <a:xfrm>
            <a:off x="548640" y="173736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3" name="Shape 6"/>
          <p:cNvSpPr/>
          <p:nvPr/>
        </p:nvSpPr>
        <p:spPr>
          <a:xfrm>
            <a:off x="3474720" y="1737360"/>
            <a:ext cx="411372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7"/>
          <p:cNvSpPr/>
          <p:nvPr/>
        </p:nvSpPr>
        <p:spPr>
          <a:xfrm>
            <a:off x="3474720" y="1737360"/>
            <a:ext cx="4113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d29922"/>
                </a:solidFill>
                <a:latin typeface="Arial Black"/>
                <a:ea typeface="Arial Black"/>
              </a:rPr>
              <a:t>Классический VPN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Shape 8"/>
          <p:cNvSpPr/>
          <p:nvPr/>
        </p:nvSpPr>
        <p:spPr>
          <a:xfrm>
            <a:off x="7589520" y="1737360"/>
            <a:ext cx="402228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9"/>
          <p:cNvSpPr/>
          <p:nvPr/>
        </p:nvSpPr>
        <p:spPr>
          <a:xfrm>
            <a:off x="7589520" y="1737360"/>
            <a:ext cx="40222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3fb950"/>
                </a:solidFill>
                <a:latin typeface="Arial Black"/>
                <a:ea typeface="Arial Black"/>
              </a:rPr>
              <a:t>ZTNA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Shape 10"/>
          <p:cNvSpPr/>
          <p:nvPr/>
        </p:nvSpPr>
        <p:spPr>
          <a:xfrm>
            <a:off x="548640" y="2194560"/>
            <a:ext cx="292500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11"/>
          <p:cNvSpPr/>
          <p:nvPr/>
        </p:nvSpPr>
        <p:spPr>
          <a:xfrm>
            <a:off x="731520" y="2194560"/>
            <a:ext cx="2650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Доступ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Shape 12"/>
          <p:cNvSpPr/>
          <p:nvPr/>
        </p:nvSpPr>
        <p:spPr>
          <a:xfrm>
            <a:off x="3474720" y="2194560"/>
            <a:ext cx="4113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 13"/>
          <p:cNvSpPr/>
          <p:nvPr/>
        </p:nvSpPr>
        <p:spPr>
          <a:xfrm>
            <a:off x="3657600" y="219456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ко всей сети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Shape 14"/>
          <p:cNvSpPr/>
          <p:nvPr/>
        </p:nvSpPr>
        <p:spPr>
          <a:xfrm>
            <a:off x="7589520" y="2194560"/>
            <a:ext cx="402228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15"/>
          <p:cNvSpPr/>
          <p:nvPr/>
        </p:nvSpPr>
        <p:spPr>
          <a:xfrm>
            <a:off x="7772400" y="2194560"/>
            <a:ext cx="3747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к конкретным приложениям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Shape 16"/>
          <p:cNvSpPr/>
          <p:nvPr/>
        </p:nvSpPr>
        <p:spPr>
          <a:xfrm>
            <a:off x="548640" y="2633400"/>
            <a:ext cx="292500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17"/>
          <p:cNvSpPr/>
          <p:nvPr/>
        </p:nvSpPr>
        <p:spPr>
          <a:xfrm>
            <a:off x="731520" y="2633400"/>
            <a:ext cx="2650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Проверка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Shape 18"/>
          <p:cNvSpPr/>
          <p:nvPr/>
        </p:nvSpPr>
        <p:spPr>
          <a:xfrm>
            <a:off x="3474720" y="2633400"/>
            <a:ext cx="4113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19"/>
          <p:cNvSpPr/>
          <p:nvPr/>
        </p:nvSpPr>
        <p:spPr>
          <a:xfrm>
            <a:off x="3657600" y="263340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разовая аутентификация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Shape 20"/>
          <p:cNvSpPr/>
          <p:nvPr/>
        </p:nvSpPr>
        <p:spPr>
          <a:xfrm>
            <a:off x="7589520" y="2633400"/>
            <a:ext cx="402228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Text 21"/>
          <p:cNvSpPr/>
          <p:nvPr/>
        </p:nvSpPr>
        <p:spPr>
          <a:xfrm>
            <a:off x="7772400" y="2633400"/>
            <a:ext cx="3747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непрерывная проверка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Shape 22"/>
          <p:cNvSpPr/>
          <p:nvPr/>
        </p:nvSpPr>
        <p:spPr>
          <a:xfrm>
            <a:off x="548640" y="3072240"/>
            <a:ext cx="292500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23"/>
          <p:cNvSpPr/>
          <p:nvPr/>
        </p:nvSpPr>
        <p:spPr>
          <a:xfrm>
            <a:off x="731520" y="3072240"/>
            <a:ext cx="2650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Видимость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Shape 24"/>
          <p:cNvSpPr/>
          <p:nvPr/>
        </p:nvSpPr>
        <p:spPr>
          <a:xfrm>
            <a:off x="3474720" y="3072240"/>
            <a:ext cx="411372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Text 25"/>
          <p:cNvSpPr/>
          <p:nvPr/>
        </p:nvSpPr>
        <p:spPr>
          <a:xfrm>
            <a:off x="3657600" y="307224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приложения видны всем внутри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Shape 26"/>
          <p:cNvSpPr/>
          <p:nvPr/>
        </p:nvSpPr>
        <p:spPr>
          <a:xfrm>
            <a:off x="7589520" y="3072240"/>
            <a:ext cx="4022280" cy="437760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27"/>
          <p:cNvSpPr/>
          <p:nvPr/>
        </p:nvSpPr>
        <p:spPr>
          <a:xfrm>
            <a:off x="7772400" y="3072240"/>
            <a:ext cx="3747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приложения «невидимы» без авторизации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Shape 28"/>
          <p:cNvSpPr/>
          <p:nvPr/>
        </p:nvSpPr>
        <p:spPr>
          <a:xfrm>
            <a:off x="548640" y="3511440"/>
            <a:ext cx="292500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29"/>
          <p:cNvSpPr/>
          <p:nvPr/>
        </p:nvSpPr>
        <p:spPr>
          <a:xfrm>
            <a:off x="731520" y="3511440"/>
            <a:ext cx="2650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Lateral movement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Shape 30"/>
          <p:cNvSpPr/>
          <p:nvPr/>
        </p:nvSpPr>
        <p:spPr>
          <a:xfrm>
            <a:off x="3474720" y="3511440"/>
            <a:ext cx="411372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31"/>
          <p:cNvSpPr/>
          <p:nvPr/>
        </p:nvSpPr>
        <p:spPr>
          <a:xfrm>
            <a:off x="3657600" y="351144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возможен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32"/>
          <p:cNvSpPr/>
          <p:nvPr/>
        </p:nvSpPr>
        <p:spPr>
          <a:xfrm>
            <a:off x="7589520" y="3511440"/>
            <a:ext cx="4022280" cy="437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33"/>
          <p:cNvSpPr/>
          <p:nvPr/>
        </p:nvSpPr>
        <p:spPr>
          <a:xfrm>
            <a:off x="7772400" y="3511440"/>
            <a:ext cx="3747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невозможен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Text 34"/>
          <p:cNvSpPr/>
          <p:nvPr/>
        </p:nvSpPr>
        <p:spPr>
          <a:xfrm>
            <a:off x="548640" y="4160520"/>
            <a:ext cx="10971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00d9b8"/>
                </a:solidFill>
                <a:latin typeface="Arial Black"/>
                <a:ea typeface="Arial Black"/>
              </a:rPr>
              <a:t>SASE  ·  Secure Access Service Edge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 35"/>
          <p:cNvSpPr/>
          <p:nvPr/>
        </p:nvSpPr>
        <p:spPr>
          <a:xfrm>
            <a:off x="548640" y="461772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термин Gartner, 2019.  Объединение в одном облачном сервисе: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Shape 36"/>
          <p:cNvSpPr/>
          <p:nvPr/>
        </p:nvSpPr>
        <p:spPr>
          <a:xfrm>
            <a:off x="548640" y="5074920"/>
            <a:ext cx="210204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37"/>
          <p:cNvSpPr/>
          <p:nvPr/>
        </p:nvSpPr>
        <p:spPr>
          <a:xfrm>
            <a:off x="548640" y="5074920"/>
            <a:ext cx="2102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SD-WAN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Shape 38"/>
          <p:cNvSpPr/>
          <p:nvPr/>
        </p:nvSpPr>
        <p:spPr>
          <a:xfrm>
            <a:off x="2788920" y="5074920"/>
            <a:ext cx="210204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39"/>
          <p:cNvSpPr/>
          <p:nvPr/>
        </p:nvSpPr>
        <p:spPr>
          <a:xfrm>
            <a:off x="2788920" y="5074920"/>
            <a:ext cx="2102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Secure Web Gateway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40"/>
          <p:cNvSpPr/>
          <p:nvPr/>
        </p:nvSpPr>
        <p:spPr>
          <a:xfrm>
            <a:off x="5029200" y="5074920"/>
            <a:ext cx="210204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Text 41"/>
          <p:cNvSpPr/>
          <p:nvPr/>
        </p:nvSpPr>
        <p:spPr>
          <a:xfrm>
            <a:off x="5029200" y="5074920"/>
            <a:ext cx="2102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CASB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Shape 42"/>
          <p:cNvSpPr/>
          <p:nvPr/>
        </p:nvSpPr>
        <p:spPr>
          <a:xfrm>
            <a:off x="7269480" y="5074920"/>
            <a:ext cx="210204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Text 43"/>
          <p:cNvSpPr/>
          <p:nvPr/>
        </p:nvSpPr>
        <p:spPr>
          <a:xfrm>
            <a:off x="7269480" y="5074920"/>
            <a:ext cx="2102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Firewall-as-a-Service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Shape 44"/>
          <p:cNvSpPr/>
          <p:nvPr/>
        </p:nvSpPr>
        <p:spPr>
          <a:xfrm>
            <a:off x="9509760" y="5074920"/>
            <a:ext cx="2102040" cy="45612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45"/>
          <p:cNvSpPr/>
          <p:nvPr/>
        </p:nvSpPr>
        <p:spPr>
          <a:xfrm>
            <a:off x="9509760" y="5074920"/>
            <a:ext cx="2102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ZTNA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Shape 46"/>
          <p:cNvSpPr/>
          <p:nvPr/>
        </p:nvSpPr>
        <p:spPr>
          <a:xfrm>
            <a:off x="548640" y="5806440"/>
            <a:ext cx="11063160" cy="776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47"/>
          <p:cNvSpPr/>
          <p:nvPr/>
        </p:nvSpPr>
        <p:spPr>
          <a:xfrm>
            <a:off x="777240" y="5852160"/>
            <a:ext cx="10788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3fb950"/>
                </a:solidFill>
                <a:latin typeface="Calibri"/>
                <a:ea typeface="Calibri"/>
              </a:rPr>
              <a:t>$25 млрд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  —  прогноз Gartner к 2027.   </a:t>
            </a:r>
            <a:r>
              <a:rPr b="0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Лидеры Magic Quadrant 2025: </a:t>
            </a:r>
            <a:r>
              <a:rPr b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Netskope · Zscaler · Palo Alto Networks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22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10  ·  КОРПОРАТИВНО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Mesh-VPN — каждый с каждым напрямую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Text 4"/>
          <p:cNvSpPr/>
          <p:nvPr/>
        </p:nvSpPr>
        <p:spPr>
          <a:xfrm>
            <a:off x="548640" y="169164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300" spc="-1" strike="noStrike">
                <a:solidFill>
                  <a:srgbClr val="8b949e"/>
                </a:solidFill>
                <a:latin typeface="Calibri"/>
                <a:ea typeface="Calibri"/>
              </a:rPr>
              <a:t>Центральный сервер только раздаёт ключи и политики. Данные идут peer-to-peer. Архитектурный сдвиг.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Shape 5"/>
          <p:cNvSpPr/>
          <p:nvPr/>
        </p:nvSpPr>
        <p:spPr>
          <a:xfrm>
            <a:off x="548640" y="2286000"/>
            <a:ext cx="5485320" cy="2102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Shape 6"/>
          <p:cNvSpPr/>
          <p:nvPr/>
        </p:nvSpPr>
        <p:spPr>
          <a:xfrm>
            <a:off x="548640" y="2286000"/>
            <a:ext cx="81360" cy="210204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Text 7"/>
          <p:cNvSpPr/>
          <p:nvPr/>
        </p:nvSpPr>
        <p:spPr>
          <a:xfrm>
            <a:off x="822960" y="2423160"/>
            <a:ext cx="3199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e6edf3"/>
                </a:solidFill>
                <a:latin typeface="Arial Black"/>
                <a:ea typeface="Arial Black"/>
              </a:rPr>
              <a:t>Tailscale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Shape 8"/>
          <p:cNvSpPr/>
          <p:nvPr/>
        </p:nvSpPr>
        <p:spPr>
          <a:xfrm>
            <a:off x="4937760" y="2468880"/>
            <a:ext cx="821880" cy="3189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Text 9"/>
          <p:cNvSpPr/>
          <p:nvPr/>
        </p:nvSpPr>
        <p:spPr>
          <a:xfrm>
            <a:off x="4937760" y="246888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00d9b8"/>
                </a:solidFill>
                <a:latin typeface="Consolas"/>
                <a:ea typeface="Consolas"/>
              </a:rPr>
              <a:t>Go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10"/>
          <p:cNvSpPr/>
          <p:nvPr/>
        </p:nvSpPr>
        <p:spPr>
          <a:xfrm>
            <a:off x="822960" y="288036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$1.45B (Series C, апр 2025)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11"/>
          <p:cNvSpPr/>
          <p:nvPr/>
        </p:nvSpPr>
        <p:spPr>
          <a:xfrm>
            <a:off x="822960" y="3246120"/>
            <a:ext cx="507384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WireGuard + coordination server. DERP как fallback relay. MagicDNS, tsnet для встраивания в Go-сервис.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Shape 12"/>
          <p:cNvSpPr/>
          <p:nvPr/>
        </p:nvSpPr>
        <p:spPr>
          <a:xfrm>
            <a:off x="6217920" y="2286000"/>
            <a:ext cx="5485320" cy="2102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13"/>
          <p:cNvSpPr/>
          <p:nvPr/>
        </p:nvSpPr>
        <p:spPr>
          <a:xfrm>
            <a:off x="6217920" y="2286000"/>
            <a:ext cx="81360" cy="2102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14"/>
          <p:cNvSpPr/>
          <p:nvPr/>
        </p:nvSpPr>
        <p:spPr>
          <a:xfrm>
            <a:off x="6492240" y="2423160"/>
            <a:ext cx="3199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e6edf3"/>
                </a:solidFill>
                <a:latin typeface="Arial Black"/>
                <a:ea typeface="Arial Black"/>
              </a:rPr>
              <a:t>NetBird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Shape 15"/>
          <p:cNvSpPr/>
          <p:nvPr/>
        </p:nvSpPr>
        <p:spPr>
          <a:xfrm>
            <a:off x="10607040" y="2468880"/>
            <a:ext cx="821880" cy="31896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16"/>
          <p:cNvSpPr/>
          <p:nvPr/>
        </p:nvSpPr>
        <p:spPr>
          <a:xfrm>
            <a:off x="10607040" y="246888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3fb950"/>
                </a:solidFill>
                <a:latin typeface="Consolas"/>
                <a:ea typeface="Consolas"/>
              </a:rPr>
              <a:t>Go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Text 17"/>
          <p:cNvSpPr/>
          <p:nvPr/>
        </p:nvSpPr>
        <p:spPr>
          <a:xfrm>
            <a:off x="6492240" y="288036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open-source, AGPLv3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18"/>
          <p:cNvSpPr/>
          <p:nvPr/>
        </p:nvSpPr>
        <p:spPr>
          <a:xfrm>
            <a:off x="6492240" y="3246120"/>
            <a:ext cx="507384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Конкурент Tailscale. Self-hostable из коробки. Использует kernel WireGuard на Linux. Нативный Rosenpass PQ.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Shape 19"/>
          <p:cNvSpPr/>
          <p:nvPr/>
        </p:nvSpPr>
        <p:spPr>
          <a:xfrm>
            <a:off x="548640" y="4572000"/>
            <a:ext cx="5485320" cy="2102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Shape 20"/>
          <p:cNvSpPr/>
          <p:nvPr/>
        </p:nvSpPr>
        <p:spPr>
          <a:xfrm>
            <a:off x="548640" y="4572000"/>
            <a:ext cx="81360" cy="2102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Text 21"/>
          <p:cNvSpPr/>
          <p:nvPr/>
        </p:nvSpPr>
        <p:spPr>
          <a:xfrm>
            <a:off x="822960" y="4709160"/>
            <a:ext cx="3199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e6edf3"/>
                </a:solidFill>
                <a:latin typeface="Arial Black"/>
                <a:ea typeface="Arial Black"/>
              </a:rPr>
              <a:t>Nebula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22"/>
          <p:cNvSpPr/>
          <p:nvPr/>
        </p:nvSpPr>
        <p:spPr>
          <a:xfrm>
            <a:off x="4937760" y="4754880"/>
            <a:ext cx="821880" cy="318960"/>
          </a:xfrm>
          <a:prstGeom prst="rect">
            <a:avLst/>
          </a:prstGeom>
          <a:solidFill>
            <a:srgbClr val="1c2128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23"/>
          <p:cNvSpPr/>
          <p:nvPr/>
        </p:nvSpPr>
        <p:spPr>
          <a:xfrm>
            <a:off x="4937760" y="475488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7c3aed"/>
                </a:solidFill>
                <a:latin typeface="Consolas"/>
                <a:ea typeface="Consolas"/>
              </a:rPr>
              <a:t>Go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24"/>
          <p:cNvSpPr/>
          <p:nvPr/>
        </p:nvSpPr>
        <p:spPr>
          <a:xfrm>
            <a:off x="822960" y="516636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Slack, 50k+ prod-узлов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Text 25"/>
          <p:cNvSpPr/>
          <p:nvPr/>
        </p:nvSpPr>
        <p:spPr>
          <a:xfrm>
            <a:off x="822960" y="5532120"/>
            <a:ext cx="507384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Не WireGuard — свой Noise-based. X.509-like сертификаты с зашитыми в них overlay-IP и группами.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Shape 26"/>
          <p:cNvSpPr/>
          <p:nvPr/>
        </p:nvSpPr>
        <p:spPr>
          <a:xfrm>
            <a:off x="6217920" y="4572000"/>
            <a:ext cx="5485320" cy="2102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Shape 27"/>
          <p:cNvSpPr/>
          <p:nvPr/>
        </p:nvSpPr>
        <p:spPr>
          <a:xfrm>
            <a:off x="6217920" y="4572000"/>
            <a:ext cx="81360" cy="21020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28"/>
          <p:cNvSpPr/>
          <p:nvPr/>
        </p:nvSpPr>
        <p:spPr>
          <a:xfrm>
            <a:off x="6492240" y="4709160"/>
            <a:ext cx="3199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e6edf3"/>
                </a:solidFill>
                <a:latin typeface="Arial Black"/>
                <a:ea typeface="Arial Black"/>
              </a:rPr>
              <a:t>ZeroTier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Shape 29"/>
          <p:cNvSpPr/>
          <p:nvPr/>
        </p:nvSpPr>
        <p:spPr>
          <a:xfrm>
            <a:off x="10607040" y="4754880"/>
            <a:ext cx="821880" cy="318960"/>
          </a:xfrm>
          <a:prstGeom prst="rect">
            <a:avLst/>
          </a:prstGeom>
          <a:solidFill>
            <a:srgbClr val="1c2128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Text 30"/>
          <p:cNvSpPr/>
          <p:nvPr/>
        </p:nvSpPr>
        <p:spPr>
          <a:xfrm>
            <a:off x="10607040" y="475488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000" spc="-1" strike="noStrike">
                <a:solidFill>
                  <a:srgbClr val="ff8c42"/>
                </a:solidFill>
                <a:latin typeface="Consolas"/>
                <a:ea typeface="Consolas"/>
              </a:rPr>
              <a:t>C++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31"/>
          <p:cNvSpPr/>
          <p:nvPr/>
        </p:nvSpPr>
        <p:spPr>
          <a:xfrm>
            <a:off x="6492240" y="5166360"/>
            <a:ext cx="5073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6e7681"/>
                </a:solidFill>
                <a:latin typeface="Consolas"/>
                <a:ea typeface="Consolas"/>
              </a:rPr>
              <a:t>старше остальных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32"/>
          <p:cNvSpPr/>
          <p:nvPr/>
        </p:nvSpPr>
        <p:spPr>
          <a:xfrm>
            <a:off x="6492240" y="5532120"/>
            <a:ext cx="507384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Свой VL1 протокол. Поддерживает много платформ. Более мощная адресация виртуальных сетей.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23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11  ·  БУДУЩЕЕ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Post-Quantum — когда появится квантовый компьютер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4"/>
          <p:cNvSpPr/>
          <p:nvPr/>
        </p:nvSpPr>
        <p:spPr>
          <a:xfrm>
            <a:off x="548640" y="1737360"/>
            <a:ext cx="11063160" cy="100476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1" name="Image 0" descr="preencoded.png"/>
          <p:cNvPicPr/>
          <p:nvPr/>
        </p:nvPicPr>
        <p:blipFill>
          <a:blip r:embed="rId1"/>
          <a:stretch/>
        </p:blipFill>
        <p:spPr>
          <a:xfrm>
            <a:off x="777240" y="19659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782" name="Text 5"/>
          <p:cNvSpPr/>
          <p:nvPr/>
        </p:nvSpPr>
        <p:spPr>
          <a:xfrm>
            <a:off x="1371600" y="1828800"/>
            <a:ext cx="9142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293" strike="noStrike">
                <a:solidFill>
                  <a:srgbClr val="d29922"/>
                </a:solidFill>
                <a:latin typeface="Arial Black"/>
                <a:ea typeface="Arial Black"/>
              </a:rPr>
              <a:t>HARVEST NOW, DECRYPT LATER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6"/>
          <p:cNvSpPr/>
          <p:nvPr/>
        </p:nvSpPr>
        <p:spPr>
          <a:xfrm>
            <a:off x="1371600" y="2194560"/>
            <a:ext cx="10057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Злоумышленник сохраняет зашифрованный трафик сегодня. Ждёт 10 лет. Квантовый компьютер ломает Diffie-Hellman и RSA — и расшифровывает архив. Для корп-секретов и long-term данных это реально.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7"/>
          <p:cNvSpPr/>
          <p:nvPr/>
        </p:nvSpPr>
        <p:spPr>
          <a:xfrm>
            <a:off x="548640" y="297180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00d9b8"/>
                </a:solidFill>
                <a:latin typeface="Consolas"/>
                <a:ea typeface="Consolas"/>
              </a:rPr>
              <a:t>NIST ФИНАЛИЗИРОВАЛ СТАНДАРТЫ · август 2024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8"/>
          <p:cNvSpPr/>
          <p:nvPr/>
        </p:nvSpPr>
        <p:spPr>
          <a:xfrm>
            <a:off x="548640" y="3383280"/>
            <a:ext cx="3656520" cy="1096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548640" y="3383280"/>
            <a:ext cx="81360" cy="1096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10"/>
          <p:cNvSpPr/>
          <p:nvPr/>
        </p:nvSpPr>
        <p:spPr>
          <a:xfrm>
            <a:off x="777240" y="347472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194" strike="noStrike">
                <a:solidFill>
                  <a:srgbClr val="6e7681"/>
                </a:solidFill>
                <a:latin typeface="Consolas"/>
                <a:ea typeface="Consolas"/>
              </a:rPr>
              <a:t>FIPS 203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11"/>
          <p:cNvSpPr/>
          <p:nvPr/>
        </p:nvSpPr>
        <p:spPr>
          <a:xfrm>
            <a:off x="777240" y="370332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7c3aed"/>
                </a:solidFill>
                <a:latin typeface="Arial Black"/>
                <a:ea typeface="Arial Black"/>
              </a:rPr>
              <a:t>ML-KEM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12"/>
          <p:cNvSpPr/>
          <p:nvPr/>
        </p:nvSpPr>
        <p:spPr>
          <a:xfrm>
            <a:off x="777240" y="40417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← </a:t>
            </a: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Kyber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Text 13"/>
          <p:cNvSpPr/>
          <p:nvPr/>
        </p:nvSpPr>
        <p:spPr>
          <a:xfrm>
            <a:off x="777240" y="422460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key encapsulation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14"/>
          <p:cNvSpPr/>
          <p:nvPr/>
        </p:nvSpPr>
        <p:spPr>
          <a:xfrm>
            <a:off x="4297680" y="3383280"/>
            <a:ext cx="3656520" cy="1096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Shape 15"/>
          <p:cNvSpPr/>
          <p:nvPr/>
        </p:nvSpPr>
        <p:spPr>
          <a:xfrm>
            <a:off x="4297680" y="3383280"/>
            <a:ext cx="81360" cy="1096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6"/>
          <p:cNvSpPr/>
          <p:nvPr/>
        </p:nvSpPr>
        <p:spPr>
          <a:xfrm>
            <a:off x="4526280" y="347472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194" strike="noStrike">
                <a:solidFill>
                  <a:srgbClr val="6e7681"/>
                </a:solidFill>
                <a:latin typeface="Consolas"/>
                <a:ea typeface="Consolas"/>
              </a:rPr>
              <a:t>FIPS 204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17"/>
          <p:cNvSpPr/>
          <p:nvPr/>
        </p:nvSpPr>
        <p:spPr>
          <a:xfrm>
            <a:off x="4526280" y="370332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7c3aed"/>
                </a:solidFill>
                <a:latin typeface="Arial Black"/>
                <a:ea typeface="Arial Black"/>
              </a:rPr>
              <a:t>ML-DSA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18"/>
          <p:cNvSpPr/>
          <p:nvPr/>
        </p:nvSpPr>
        <p:spPr>
          <a:xfrm>
            <a:off x="4526280" y="40417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← </a:t>
            </a: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Dilithium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 19"/>
          <p:cNvSpPr/>
          <p:nvPr/>
        </p:nvSpPr>
        <p:spPr>
          <a:xfrm>
            <a:off x="4526280" y="422460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цифровые подписи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Shape 20"/>
          <p:cNvSpPr/>
          <p:nvPr/>
        </p:nvSpPr>
        <p:spPr>
          <a:xfrm>
            <a:off x="8046720" y="3383280"/>
            <a:ext cx="3656520" cy="1096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21"/>
          <p:cNvSpPr/>
          <p:nvPr/>
        </p:nvSpPr>
        <p:spPr>
          <a:xfrm>
            <a:off x="8046720" y="3383280"/>
            <a:ext cx="81360" cy="1096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22"/>
          <p:cNvSpPr/>
          <p:nvPr/>
        </p:nvSpPr>
        <p:spPr>
          <a:xfrm>
            <a:off x="8275320" y="347472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194" strike="noStrike">
                <a:solidFill>
                  <a:srgbClr val="6e7681"/>
                </a:solidFill>
                <a:latin typeface="Consolas"/>
                <a:ea typeface="Consolas"/>
              </a:rPr>
              <a:t>FIPS 205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23"/>
          <p:cNvSpPr/>
          <p:nvPr/>
        </p:nvSpPr>
        <p:spPr>
          <a:xfrm>
            <a:off x="8275320" y="370332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7c3aed"/>
                </a:solidFill>
                <a:latin typeface="Arial Black"/>
                <a:ea typeface="Arial Black"/>
              </a:rPr>
              <a:t>SLH-DSA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24"/>
          <p:cNvSpPr/>
          <p:nvPr/>
        </p:nvSpPr>
        <p:spPr>
          <a:xfrm>
            <a:off x="8275320" y="40417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← </a:t>
            </a: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SPHINCS+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25"/>
          <p:cNvSpPr/>
          <p:nvPr/>
        </p:nvSpPr>
        <p:spPr>
          <a:xfrm>
            <a:off x="8275320" y="422460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альтернатива на хешах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26"/>
          <p:cNvSpPr/>
          <p:nvPr/>
        </p:nvSpPr>
        <p:spPr>
          <a:xfrm>
            <a:off x="548640" y="475488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3fb950"/>
                </a:solidFill>
                <a:latin typeface="Consolas"/>
                <a:ea typeface="Consolas"/>
              </a:rPr>
              <a:t>ЧТО УЖЕ ВНЕДРЕНО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27"/>
          <p:cNvSpPr/>
          <p:nvPr/>
        </p:nvSpPr>
        <p:spPr>
          <a:xfrm>
            <a:off x="548640" y="516636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00d9b8"/>
                </a:solidFill>
                <a:latin typeface="Arial Black"/>
                <a:ea typeface="Arial Black"/>
              </a:rPr>
              <a:t>Rosenpass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 28"/>
          <p:cNvSpPr/>
          <p:nvPr/>
        </p:nvSpPr>
        <p:spPr>
          <a:xfrm>
            <a:off x="3108960" y="516636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Rust+Go. Работает рядом с WireGuard — генерирует PQ-PSK через Classic McEliece + ML-KEM, подаёт в WG через стандартный pre-shared key. Красиво.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 29"/>
          <p:cNvSpPr/>
          <p:nvPr/>
        </p:nvSpPr>
        <p:spPr>
          <a:xfrm>
            <a:off x="548640" y="553212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00d9b8"/>
                </a:solidFill>
                <a:latin typeface="Arial Black"/>
                <a:ea typeface="Arial Black"/>
              </a:rPr>
              <a:t>NetBird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Text 30"/>
          <p:cNvSpPr/>
          <p:nvPr/>
        </p:nvSpPr>
        <p:spPr>
          <a:xfrm>
            <a:off x="3108960" y="553212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первый production mesh-VPN с интеграцией Rosenpass — опция --enable-rosenpass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 31"/>
          <p:cNvSpPr/>
          <p:nvPr/>
        </p:nvSpPr>
        <p:spPr>
          <a:xfrm>
            <a:off x="548640" y="589788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00d9b8"/>
                </a:solidFill>
                <a:latin typeface="Arial Black"/>
                <a:ea typeface="Arial Black"/>
              </a:rPr>
              <a:t>NordLynx, Mullvad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32"/>
          <p:cNvSpPr/>
          <p:nvPr/>
        </p:nvSpPr>
        <p:spPr>
          <a:xfrm>
            <a:off x="3108960" y="589788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ML-KEM в 2024–2025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33"/>
          <p:cNvSpPr/>
          <p:nvPr/>
        </p:nvSpPr>
        <p:spPr>
          <a:xfrm>
            <a:off x="548640" y="626364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00d9b8"/>
                </a:solidFill>
                <a:latin typeface="Arial Black"/>
                <a:ea typeface="Arial Black"/>
              </a:rPr>
              <a:t>RFC 9370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34"/>
          <p:cNvSpPr/>
          <p:nvPr/>
        </p:nvSpPr>
        <p:spPr>
          <a:xfrm>
            <a:off x="3108960" y="62636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в IKEv2 добавили поддержку множественных key exchange: ECDH + PQ одновременно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24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11  ·  БУДУЩЕЕ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MASQUE — VPN внутри HTTP/3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Text 4"/>
          <p:cNvSpPr/>
          <p:nvPr/>
        </p:nvSpPr>
        <p:spPr>
          <a:xfrm>
            <a:off x="548640" y="173736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293" strike="noStrike">
                <a:solidFill>
                  <a:srgbClr val="00d9b8"/>
                </a:solidFill>
                <a:latin typeface="Consolas"/>
                <a:ea typeface="Consolas"/>
              </a:rPr>
              <a:t>СТЕК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5"/>
          <p:cNvSpPr/>
          <p:nvPr/>
        </p:nvSpPr>
        <p:spPr>
          <a:xfrm>
            <a:off x="548640" y="2103120"/>
            <a:ext cx="4845240" cy="63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Shape 6"/>
          <p:cNvSpPr/>
          <p:nvPr/>
        </p:nvSpPr>
        <p:spPr>
          <a:xfrm>
            <a:off x="548640" y="2103120"/>
            <a:ext cx="72000" cy="639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 7"/>
          <p:cNvSpPr/>
          <p:nvPr/>
        </p:nvSpPr>
        <p:spPr>
          <a:xfrm>
            <a:off x="731520" y="2103120"/>
            <a:ext cx="4616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onsolas"/>
                <a:ea typeface="Consolas"/>
              </a:rPr>
              <a:t>IP-пакеты пользователя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Shape 8"/>
          <p:cNvSpPr/>
          <p:nvPr/>
        </p:nvSpPr>
        <p:spPr>
          <a:xfrm>
            <a:off x="548640" y="2834640"/>
            <a:ext cx="4845240" cy="63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Shape 9"/>
          <p:cNvSpPr/>
          <p:nvPr/>
        </p:nvSpPr>
        <p:spPr>
          <a:xfrm>
            <a:off x="548640" y="2834640"/>
            <a:ext cx="72000" cy="6390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Text 10"/>
          <p:cNvSpPr/>
          <p:nvPr/>
        </p:nvSpPr>
        <p:spPr>
          <a:xfrm>
            <a:off x="731520" y="2834640"/>
            <a:ext cx="4616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onsolas"/>
                <a:ea typeface="Consolas"/>
              </a:rPr>
              <a:t>extended HTTP CONNECT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Shape 11"/>
          <p:cNvSpPr/>
          <p:nvPr/>
        </p:nvSpPr>
        <p:spPr>
          <a:xfrm>
            <a:off x="548640" y="3566160"/>
            <a:ext cx="4845240" cy="63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Shape 12"/>
          <p:cNvSpPr/>
          <p:nvPr/>
        </p:nvSpPr>
        <p:spPr>
          <a:xfrm>
            <a:off x="548640" y="3566160"/>
            <a:ext cx="72000" cy="6390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 13"/>
          <p:cNvSpPr/>
          <p:nvPr/>
        </p:nvSpPr>
        <p:spPr>
          <a:xfrm>
            <a:off x="731520" y="3566160"/>
            <a:ext cx="4616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onsolas"/>
                <a:ea typeface="Consolas"/>
              </a:rPr>
              <a:t>HTTP/3 (Capsule Protocol)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Shape 14"/>
          <p:cNvSpPr/>
          <p:nvPr/>
        </p:nvSpPr>
        <p:spPr>
          <a:xfrm>
            <a:off x="548640" y="4297680"/>
            <a:ext cx="4845240" cy="63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Shape 15"/>
          <p:cNvSpPr/>
          <p:nvPr/>
        </p:nvSpPr>
        <p:spPr>
          <a:xfrm>
            <a:off x="548640" y="4297680"/>
            <a:ext cx="72000" cy="639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 16"/>
          <p:cNvSpPr/>
          <p:nvPr/>
        </p:nvSpPr>
        <p:spPr>
          <a:xfrm>
            <a:off x="731520" y="4297680"/>
            <a:ext cx="4616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onsolas"/>
                <a:ea typeface="Consolas"/>
              </a:rPr>
              <a:t>QUIC + TLS 1.3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Shape 17"/>
          <p:cNvSpPr/>
          <p:nvPr/>
        </p:nvSpPr>
        <p:spPr>
          <a:xfrm>
            <a:off x="548640" y="5029200"/>
            <a:ext cx="4845240" cy="63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Shape 18"/>
          <p:cNvSpPr/>
          <p:nvPr/>
        </p:nvSpPr>
        <p:spPr>
          <a:xfrm>
            <a:off x="548640" y="5029200"/>
            <a:ext cx="72000" cy="639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Text 19"/>
          <p:cNvSpPr/>
          <p:nvPr/>
        </p:nvSpPr>
        <p:spPr>
          <a:xfrm>
            <a:off x="731520" y="5029200"/>
            <a:ext cx="4616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300" spc="-1" strike="noStrike">
                <a:solidFill>
                  <a:srgbClr val="e6edf3"/>
                </a:solidFill>
                <a:latin typeface="Consolas"/>
                <a:ea typeface="Consolas"/>
              </a:rPr>
              <a:t>UDP / :443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Text 20"/>
          <p:cNvSpPr/>
          <p:nvPr/>
        </p:nvSpPr>
        <p:spPr>
          <a:xfrm>
            <a:off x="5760720" y="173736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293" strike="noStrike">
                <a:solidFill>
                  <a:srgbClr val="00d9b8"/>
                </a:solidFill>
                <a:latin typeface="Consolas"/>
                <a:ea typeface="Consolas"/>
              </a:rPr>
              <a:t>СТАНДАРТЫ  ·  IETF 2022–2023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21"/>
          <p:cNvSpPr/>
          <p:nvPr/>
        </p:nvSpPr>
        <p:spPr>
          <a:xfrm>
            <a:off x="5760720" y="2148840"/>
            <a:ext cx="5851080" cy="36468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22"/>
          <p:cNvSpPr/>
          <p:nvPr/>
        </p:nvSpPr>
        <p:spPr>
          <a:xfrm>
            <a:off x="5852160" y="2148840"/>
            <a:ext cx="1370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RFC 9297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 23"/>
          <p:cNvSpPr/>
          <p:nvPr/>
        </p:nvSpPr>
        <p:spPr>
          <a:xfrm>
            <a:off x="7223760" y="2148840"/>
            <a:ext cx="4388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HTTP Datagrams + Capsule Protocol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Shape 24"/>
          <p:cNvSpPr/>
          <p:nvPr/>
        </p:nvSpPr>
        <p:spPr>
          <a:xfrm>
            <a:off x="5760720" y="2606040"/>
            <a:ext cx="5851080" cy="36468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 25"/>
          <p:cNvSpPr/>
          <p:nvPr/>
        </p:nvSpPr>
        <p:spPr>
          <a:xfrm>
            <a:off x="5852160" y="2606040"/>
            <a:ext cx="1370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RFC 9298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26"/>
          <p:cNvSpPr/>
          <p:nvPr/>
        </p:nvSpPr>
        <p:spPr>
          <a:xfrm>
            <a:off x="7223760" y="2606040"/>
            <a:ext cx="4388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Proxying UDP in HTTP (CONNECT-UDP)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27"/>
          <p:cNvSpPr/>
          <p:nvPr/>
        </p:nvSpPr>
        <p:spPr>
          <a:xfrm>
            <a:off x="5760720" y="3063240"/>
            <a:ext cx="5851080" cy="36468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Text 28"/>
          <p:cNvSpPr/>
          <p:nvPr/>
        </p:nvSpPr>
        <p:spPr>
          <a:xfrm>
            <a:off x="5852160" y="3063240"/>
            <a:ext cx="1370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RFC 9484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29"/>
          <p:cNvSpPr/>
          <p:nvPr/>
        </p:nvSpPr>
        <p:spPr>
          <a:xfrm>
            <a:off x="7223760" y="3063240"/>
            <a:ext cx="4388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Proxying IP in HTTP (CONNECT-IP)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30"/>
          <p:cNvSpPr/>
          <p:nvPr/>
        </p:nvSpPr>
        <p:spPr>
          <a:xfrm>
            <a:off x="5760720" y="374904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293" strike="noStrike">
                <a:solidFill>
                  <a:srgbClr val="3fb950"/>
                </a:solidFill>
                <a:latin typeface="Consolas"/>
                <a:ea typeface="Consolas"/>
              </a:rPr>
              <a:t>КТО УЖЕ ИСПОЛЬЗУЕТ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Shape 31"/>
          <p:cNvSpPr/>
          <p:nvPr/>
        </p:nvSpPr>
        <p:spPr>
          <a:xfrm>
            <a:off x="5760720" y="4251960"/>
            <a:ext cx="227520" cy="2275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Text 32"/>
          <p:cNvSpPr/>
          <p:nvPr/>
        </p:nvSpPr>
        <p:spPr>
          <a:xfrm>
            <a:off x="6080760" y="4160520"/>
            <a:ext cx="5576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e6edf3"/>
                </a:solidFill>
                <a:latin typeface="Arial Black"/>
                <a:ea typeface="Arial Black"/>
              </a:rPr>
              <a:t>Apple iCloud Private Relay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33"/>
          <p:cNvSpPr/>
          <p:nvPr/>
        </p:nvSpPr>
        <p:spPr>
          <a:xfrm>
            <a:off x="6080760" y="4407480"/>
            <a:ext cx="5576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00d9b8"/>
                </a:solidFill>
                <a:latin typeface="Consolas"/>
                <a:ea typeface="Consolas"/>
              </a:rPr>
              <a:t>iOS 15, 2021</a:t>
            </a:r>
            <a:r>
              <a:rPr b="0" lang="ru-RU" sz="1000" spc="-1" strike="noStrike">
                <a:solidFill>
                  <a:srgbClr val="8b949e"/>
                </a:solidFill>
                <a:latin typeface="Consolas"/>
                <a:ea typeface="Consolas"/>
              </a:rPr>
              <a:t>  ·  two-hop через Apple → Cloudflare/Fastly/Akamai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Shape 34"/>
          <p:cNvSpPr/>
          <p:nvPr/>
        </p:nvSpPr>
        <p:spPr>
          <a:xfrm>
            <a:off x="5760720" y="4727520"/>
            <a:ext cx="227520" cy="2275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35"/>
          <p:cNvSpPr/>
          <p:nvPr/>
        </p:nvSpPr>
        <p:spPr>
          <a:xfrm>
            <a:off x="6080760" y="4636080"/>
            <a:ext cx="5576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e6edf3"/>
                </a:solidFill>
                <a:latin typeface="Arial Black"/>
                <a:ea typeface="Arial Black"/>
              </a:rPr>
              <a:t>Cloudflare WARP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Text 36"/>
          <p:cNvSpPr/>
          <p:nvPr/>
        </p:nvSpPr>
        <p:spPr>
          <a:xfrm>
            <a:off x="6080760" y="4883040"/>
            <a:ext cx="5576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00d9b8"/>
                </a:solidFill>
                <a:latin typeface="Consolas"/>
                <a:ea typeface="Consolas"/>
              </a:rPr>
              <a:t>с 2024</a:t>
            </a:r>
            <a:r>
              <a:rPr b="0" lang="ru-RU" sz="1000" spc="-1" strike="noStrike">
                <a:solidFill>
                  <a:srgbClr val="8b949e"/>
                </a:solidFill>
                <a:latin typeface="Consolas"/>
                <a:ea typeface="Consolas"/>
              </a:rPr>
              <a:t>  ·  полный переход на MASQUE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Shape 37"/>
          <p:cNvSpPr/>
          <p:nvPr/>
        </p:nvSpPr>
        <p:spPr>
          <a:xfrm>
            <a:off x="5760720" y="5203080"/>
            <a:ext cx="227520" cy="2275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Text 38"/>
          <p:cNvSpPr/>
          <p:nvPr/>
        </p:nvSpPr>
        <p:spPr>
          <a:xfrm>
            <a:off x="6080760" y="5111640"/>
            <a:ext cx="5576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e6edf3"/>
                </a:solidFill>
                <a:latin typeface="Arial Black"/>
                <a:ea typeface="Arial Black"/>
              </a:rPr>
              <a:t>Mullvad QUIC obfuscation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Text 39"/>
          <p:cNvSpPr/>
          <p:nvPr/>
        </p:nvSpPr>
        <p:spPr>
          <a:xfrm>
            <a:off x="6080760" y="5358240"/>
            <a:ext cx="5576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00d9b8"/>
                </a:solidFill>
                <a:latin typeface="Consolas"/>
                <a:ea typeface="Consolas"/>
              </a:rPr>
              <a:t>сен 2025</a:t>
            </a:r>
            <a:r>
              <a:rPr b="0" lang="ru-RU" sz="1000" spc="-1" strike="noStrike">
                <a:solidFill>
                  <a:srgbClr val="8b949e"/>
                </a:solidFill>
                <a:latin typeface="Consolas"/>
                <a:ea typeface="Consolas"/>
              </a:rPr>
              <a:t>  ·  WireGuard через RFC 9298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Shape 40"/>
          <p:cNvSpPr/>
          <p:nvPr/>
        </p:nvSpPr>
        <p:spPr>
          <a:xfrm>
            <a:off x="548640" y="5897880"/>
            <a:ext cx="11063160" cy="684720"/>
          </a:xfrm>
          <a:prstGeom prst="rect">
            <a:avLst/>
          </a:prstGeom>
          <a:solidFill>
            <a:srgbClr val="1c2128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Text 41"/>
          <p:cNvSpPr/>
          <p:nvPr/>
        </p:nvSpPr>
        <p:spPr>
          <a:xfrm>
            <a:off x="777240" y="5897880"/>
            <a:ext cx="10788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Главное: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VPN-трафик </a:t>
            </a:r>
            <a:r>
              <a:rPr b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визуально неотличим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 от обычного HTTP/3. Любой файрвол, не блокирующий HTTPS на 443, пропускает и VPN.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25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11  ·  РЕАЛЬНОСТЬ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Блокировки VPN в России — контекст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Shape 4"/>
          <p:cNvSpPr/>
          <p:nvPr/>
        </p:nvSpPr>
        <p:spPr>
          <a:xfrm>
            <a:off x="548640" y="1737360"/>
            <a:ext cx="11063160" cy="100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 5"/>
          <p:cNvSpPr/>
          <p:nvPr/>
        </p:nvSpPr>
        <p:spPr>
          <a:xfrm>
            <a:off x="777240" y="1783080"/>
            <a:ext cx="10788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d29922"/>
                </a:solidFill>
                <a:latin typeface="Calibri"/>
                <a:ea typeface="Calibri"/>
              </a:rPr>
              <a:t>С 2019: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закон о «суверенном рунете». У каждого крупного ISP стоит ТСПУ — </a:t>
            </a:r>
            <a:r>
              <a:rPr b="0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Технические Средства Противодействия Угрозам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, это и есть DPI для анализа трафика.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 6"/>
          <p:cNvSpPr/>
          <p:nvPr/>
        </p:nvSpPr>
        <p:spPr>
          <a:xfrm>
            <a:off x="777240" y="2240280"/>
            <a:ext cx="10788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f85149"/>
                </a:solidFill>
                <a:latin typeface="Calibri"/>
                <a:ea typeface="Calibri"/>
              </a:rPr>
              <a:t>С 2023: 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ТСПУ блокирует WireGuard, OpenVPN, IKEv2, L2TP, PPTP </a:t>
            </a:r>
            <a:r>
              <a:rPr b="0" i="1" lang="ru-RU" sz="1300" spc="-1" strike="noStrike">
                <a:solidFill>
                  <a:srgbClr val="00d9b8"/>
                </a:solidFill>
                <a:latin typeface="Calibri"/>
                <a:ea typeface="Calibri"/>
              </a:rPr>
              <a:t>по сигнатурам протокола</a:t>
            </a:r>
            <a:r>
              <a:rPr b="0" lang="ru-RU" sz="1300" spc="-1" strike="noStrike">
                <a:solidFill>
                  <a:srgbClr val="e6edf3"/>
                </a:solidFill>
                <a:latin typeface="Calibri"/>
                <a:ea typeface="Calibri"/>
              </a:rPr>
              <a:t>.  Первый байт WireGuard-handshake всегда 0x01 → тривиально детектится.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Shape 7"/>
          <p:cNvSpPr/>
          <p:nvPr/>
        </p:nvSpPr>
        <p:spPr>
          <a:xfrm>
            <a:off x="548640" y="3017520"/>
            <a:ext cx="3656520" cy="1004760"/>
          </a:xfrm>
          <a:prstGeom prst="rect">
            <a:avLst/>
          </a:prstGeom>
          <a:solidFill>
            <a:srgbClr val="1c2128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Text 8"/>
          <p:cNvSpPr/>
          <p:nvPr/>
        </p:nvSpPr>
        <p:spPr>
          <a:xfrm>
            <a:off x="685800" y="3108960"/>
            <a:ext cx="3382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f85149"/>
                </a:solidFill>
                <a:latin typeface="Arial Black"/>
                <a:ea typeface="Arial Black"/>
              </a:rPr>
              <a:t>150+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 9"/>
          <p:cNvSpPr/>
          <p:nvPr/>
        </p:nvSpPr>
        <p:spPr>
          <a:xfrm>
            <a:off x="685800" y="361188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VPN-сервисов заблокировано (к апр 2024)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Shape 10"/>
          <p:cNvSpPr/>
          <p:nvPr/>
        </p:nvSpPr>
        <p:spPr>
          <a:xfrm>
            <a:off x="4297680" y="3017520"/>
            <a:ext cx="3656520" cy="1004760"/>
          </a:xfrm>
          <a:prstGeom prst="rect">
            <a:avLst/>
          </a:prstGeom>
          <a:solidFill>
            <a:srgbClr val="1c2128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Text 11"/>
          <p:cNvSpPr/>
          <p:nvPr/>
        </p:nvSpPr>
        <p:spPr>
          <a:xfrm>
            <a:off x="4434840" y="3108960"/>
            <a:ext cx="3382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f85149"/>
                </a:solidFill>
                <a:latin typeface="Arial Black"/>
                <a:ea typeface="Arial Black"/>
              </a:rPr>
              <a:t>12 600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Text 12"/>
          <p:cNvSpPr/>
          <p:nvPr/>
        </p:nvSpPr>
        <p:spPr>
          <a:xfrm>
            <a:off x="4434840" y="361188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материалов о VPN ограничено РКН (янв–апр 2025)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Shape 13"/>
          <p:cNvSpPr/>
          <p:nvPr/>
        </p:nvSpPr>
        <p:spPr>
          <a:xfrm>
            <a:off x="8046720" y="3017520"/>
            <a:ext cx="3656520" cy="1004760"/>
          </a:xfrm>
          <a:prstGeom prst="rect">
            <a:avLst/>
          </a:prstGeom>
          <a:solidFill>
            <a:srgbClr val="1c2128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Text 14"/>
          <p:cNvSpPr/>
          <p:nvPr/>
        </p:nvSpPr>
        <p:spPr>
          <a:xfrm>
            <a:off x="8183880" y="3108960"/>
            <a:ext cx="3382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f85149"/>
                </a:solidFill>
                <a:latin typeface="Arial Black"/>
                <a:ea typeface="Arial Black"/>
              </a:rPr>
              <a:t>~60 млрд ₽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15"/>
          <p:cNvSpPr/>
          <p:nvPr/>
        </p:nvSpPr>
        <p:spPr>
          <a:xfrm>
            <a:off x="8183880" y="361188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на модернизацию блокировок в 2025–2027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Text 16"/>
          <p:cNvSpPr/>
          <p:nvPr/>
        </p:nvSpPr>
        <p:spPr>
          <a:xfrm>
            <a:off x="548640" y="425196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3fb950"/>
                </a:solidFill>
                <a:latin typeface="Consolas"/>
                <a:ea typeface="Consolas"/>
              </a:rPr>
              <a:t>ЧТО РАБОТАЕТ СЕЙЧАС  ·  2025–2026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Shape 17"/>
          <p:cNvSpPr/>
          <p:nvPr/>
        </p:nvSpPr>
        <p:spPr>
          <a:xfrm>
            <a:off x="548640" y="4663440"/>
            <a:ext cx="11063160" cy="41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Shape 18"/>
          <p:cNvSpPr/>
          <p:nvPr/>
        </p:nvSpPr>
        <p:spPr>
          <a:xfrm>
            <a:off x="548640" y="4663440"/>
            <a:ext cx="72000" cy="410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19"/>
          <p:cNvSpPr/>
          <p:nvPr/>
        </p:nvSpPr>
        <p:spPr>
          <a:xfrm>
            <a:off x="822960" y="4663440"/>
            <a:ext cx="1004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194" strike="noStrike">
                <a:solidFill>
                  <a:srgbClr val="3fb950"/>
                </a:solidFill>
                <a:latin typeface="Consolas"/>
                <a:ea typeface="Consolas"/>
              </a:rPr>
              <a:t>ТОП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20"/>
          <p:cNvSpPr/>
          <p:nvPr/>
        </p:nvSpPr>
        <p:spPr>
          <a:xfrm>
            <a:off x="1920240" y="4663440"/>
            <a:ext cx="4113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VLESS + XTLS-Vision + Reality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Text 21"/>
          <p:cNvSpPr/>
          <p:nvPr/>
        </p:nvSpPr>
        <p:spPr>
          <a:xfrm>
            <a:off x="6126480" y="4663440"/>
            <a:ext cx="5485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Неотличим от обычного HTTPS к www.microsoft.com. Active probe → реальный Microsoft отвечает.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Shape 22"/>
          <p:cNvSpPr/>
          <p:nvPr/>
        </p:nvSpPr>
        <p:spPr>
          <a:xfrm>
            <a:off x="548640" y="5093280"/>
            <a:ext cx="11063160" cy="41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Shape 23"/>
          <p:cNvSpPr/>
          <p:nvPr/>
        </p:nvSpPr>
        <p:spPr>
          <a:xfrm>
            <a:off x="548640" y="5093280"/>
            <a:ext cx="72000" cy="4104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Text 24"/>
          <p:cNvSpPr/>
          <p:nvPr/>
        </p:nvSpPr>
        <p:spPr>
          <a:xfrm>
            <a:off x="822960" y="5093280"/>
            <a:ext cx="1004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194" strike="noStrike">
                <a:solidFill>
                  <a:srgbClr val="00d9b8"/>
                </a:solidFill>
                <a:latin typeface="Consolas"/>
                <a:ea typeface="Consolas"/>
              </a:rPr>
              <a:t>рабочий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Text 25"/>
          <p:cNvSpPr/>
          <p:nvPr/>
        </p:nvSpPr>
        <p:spPr>
          <a:xfrm>
            <a:off x="1920240" y="5093280"/>
            <a:ext cx="4113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Trojan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Text 26"/>
          <p:cNvSpPr/>
          <p:nvPr/>
        </p:nvSpPr>
        <p:spPr>
          <a:xfrm>
            <a:off x="6126480" y="5093280"/>
            <a:ext cx="5485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Работает, но всё чаще детектится по характеру трафика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Shape 27"/>
          <p:cNvSpPr/>
          <p:nvPr/>
        </p:nvSpPr>
        <p:spPr>
          <a:xfrm>
            <a:off x="548640" y="5523120"/>
            <a:ext cx="11063160" cy="41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Shape 28"/>
          <p:cNvSpPr/>
          <p:nvPr/>
        </p:nvSpPr>
        <p:spPr>
          <a:xfrm>
            <a:off x="548640" y="5523120"/>
            <a:ext cx="72000" cy="4104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29"/>
          <p:cNvSpPr/>
          <p:nvPr/>
        </p:nvSpPr>
        <p:spPr>
          <a:xfrm>
            <a:off x="822960" y="5523120"/>
            <a:ext cx="1004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194" strike="noStrike">
                <a:solidFill>
                  <a:srgbClr val="00d9b8"/>
                </a:solidFill>
                <a:latin typeface="Consolas"/>
                <a:ea typeface="Consolas"/>
              </a:rPr>
              <a:t>рабочий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 30"/>
          <p:cNvSpPr/>
          <p:nvPr/>
        </p:nvSpPr>
        <p:spPr>
          <a:xfrm>
            <a:off x="1920240" y="5523120"/>
            <a:ext cx="4113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Shadowsocks-2022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Text 31"/>
          <p:cNvSpPr/>
          <p:nvPr/>
        </p:nvSpPr>
        <p:spPr>
          <a:xfrm>
            <a:off x="6126480" y="5523120"/>
            <a:ext cx="5485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Особенно с random-obfuscator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Shape 32"/>
          <p:cNvSpPr/>
          <p:nvPr/>
        </p:nvSpPr>
        <p:spPr>
          <a:xfrm>
            <a:off x="548640" y="5952600"/>
            <a:ext cx="11063160" cy="41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Shape 33"/>
          <p:cNvSpPr/>
          <p:nvPr/>
        </p:nvSpPr>
        <p:spPr>
          <a:xfrm>
            <a:off x="548640" y="5952600"/>
            <a:ext cx="72000" cy="41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Text 34"/>
          <p:cNvSpPr/>
          <p:nvPr/>
        </p:nvSpPr>
        <p:spPr>
          <a:xfrm>
            <a:off x="822960" y="5952600"/>
            <a:ext cx="1004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900" spc="194" strike="noStrike">
                <a:solidFill>
                  <a:srgbClr val="7c3aed"/>
                </a:solidFill>
                <a:latin typeface="Consolas"/>
                <a:ea typeface="Consolas"/>
              </a:rPr>
              <a:t>обёртка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Text 35"/>
          <p:cNvSpPr/>
          <p:nvPr/>
        </p:nvSpPr>
        <p:spPr>
          <a:xfrm>
            <a:off x="1920240" y="5952600"/>
            <a:ext cx="4113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-1" strike="noStrike">
                <a:solidFill>
                  <a:srgbClr val="e6edf3"/>
                </a:solidFill>
                <a:latin typeface="Consolas"/>
                <a:ea typeface="Consolas"/>
              </a:rPr>
              <a:t>Cloak как транспорт для WireGuard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Text 36"/>
          <p:cNvSpPr/>
          <p:nvPr/>
        </p:nvSpPr>
        <p:spPr>
          <a:xfrm>
            <a:off x="6126480" y="5952600"/>
            <a:ext cx="5485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Маскирует WG под HTTPS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37"/>
          <p:cNvSpPr/>
          <p:nvPr/>
        </p:nvSpPr>
        <p:spPr>
          <a:xfrm>
            <a:off x="548640" y="6492240"/>
            <a:ext cx="10971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200" spc="-1" strike="noStrike">
                <a:solidFill>
                  <a:srgbClr val="00d9b8"/>
                </a:solidFill>
                <a:latin typeface="Calibri"/>
                <a:ea typeface="Calibri"/>
              </a:rPr>
              <a:t>Все эти протоколы = один приём: маскировка под легальный HTTPS к популярному сайту.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26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12  ·  ПОЧЕМУ ВЫ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Почему это касается Go-разработчиков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Shape 4"/>
          <p:cNvSpPr/>
          <p:nvPr/>
        </p:nvSpPr>
        <p:spPr>
          <a:xfrm>
            <a:off x="548640" y="1737360"/>
            <a:ext cx="11063160" cy="821880"/>
          </a:xfrm>
          <a:prstGeom prst="rect">
            <a:avLst/>
          </a:prstGeom>
          <a:solidFill>
            <a:srgbClr val="1c2128"/>
          </a:solidFill>
          <a:ln w="1905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Text 5"/>
          <p:cNvSpPr/>
          <p:nvPr/>
        </p:nvSpPr>
        <p:spPr>
          <a:xfrm>
            <a:off x="777240" y="1783080"/>
            <a:ext cx="10788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00d9b8"/>
                </a:solidFill>
                <a:latin typeface="Arial Black"/>
                <a:ea typeface="Arial Black"/>
              </a:rPr>
              <a:t>Большая часть современной VPN-инфраструктуры написана на Go. 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 6"/>
          <p:cNvSpPr/>
          <p:nvPr/>
        </p:nvSpPr>
        <p:spPr>
          <a:xfrm>
            <a:off x="777240" y="2148840"/>
            <a:ext cx="10788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Это редкий случай, когда массовая production-инфраструктура доступна как open-source на языке, который вы учите.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Shape 7"/>
          <p:cNvSpPr/>
          <p:nvPr/>
        </p:nvSpPr>
        <p:spPr>
          <a:xfrm>
            <a:off x="548640" y="2697480"/>
            <a:ext cx="5531040" cy="127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Shape 8"/>
          <p:cNvSpPr/>
          <p:nvPr/>
        </p:nvSpPr>
        <p:spPr>
          <a:xfrm>
            <a:off x="548640" y="2697480"/>
            <a:ext cx="81360" cy="12790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9"/>
          <p:cNvSpPr/>
          <p:nvPr/>
        </p:nvSpPr>
        <p:spPr>
          <a:xfrm>
            <a:off x="822960" y="281628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wireguard-go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Text 10"/>
          <p:cNvSpPr/>
          <p:nvPr/>
        </p:nvSpPr>
        <p:spPr>
          <a:xfrm>
            <a:off x="822960" y="315468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git.zx2c4.com/wireguard-go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Text 11"/>
          <p:cNvSpPr/>
          <p:nvPr/>
        </p:nvSpPr>
        <p:spPr>
          <a:xfrm>
            <a:off x="822960" y="3456360"/>
            <a:ext cx="51195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Официальная userspace-реализация. На macOS/Windows/iOS/Android — это оно. Автор — сам Донненфельд.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Shape 12"/>
          <p:cNvSpPr/>
          <p:nvPr/>
        </p:nvSpPr>
        <p:spPr>
          <a:xfrm>
            <a:off x="6190560" y="2697480"/>
            <a:ext cx="5531040" cy="127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Shape 13"/>
          <p:cNvSpPr/>
          <p:nvPr/>
        </p:nvSpPr>
        <p:spPr>
          <a:xfrm>
            <a:off x="6190560" y="2697480"/>
            <a:ext cx="81360" cy="12790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Text 14"/>
          <p:cNvSpPr/>
          <p:nvPr/>
        </p:nvSpPr>
        <p:spPr>
          <a:xfrm>
            <a:off x="6464880" y="281628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Tailscale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Text 15"/>
          <p:cNvSpPr/>
          <p:nvPr/>
        </p:nvSpPr>
        <p:spPr>
          <a:xfrm>
            <a:off x="6464880" y="315468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github.com/tailscale/tailscale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16"/>
          <p:cNvSpPr/>
          <p:nvPr/>
        </p:nvSpPr>
        <p:spPr>
          <a:xfrm>
            <a:off x="6464880" y="3456360"/>
            <a:ext cx="51195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Brad Fitzpatrick (ex-Go team). wgengine + magicsock (NAT) + netstack + DERP + tsnet.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Shape 17"/>
          <p:cNvSpPr/>
          <p:nvPr/>
        </p:nvSpPr>
        <p:spPr>
          <a:xfrm>
            <a:off x="548640" y="4087440"/>
            <a:ext cx="5531040" cy="127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Shape 18"/>
          <p:cNvSpPr/>
          <p:nvPr/>
        </p:nvSpPr>
        <p:spPr>
          <a:xfrm>
            <a:off x="548640" y="4087440"/>
            <a:ext cx="81360" cy="12790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Text 19"/>
          <p:cNvSpPr/>
          <p:nvPr/>
        </p:nvSpPr>
        <p:spPr>
          <a:xfrm>
            <a:off x="822960" y="420624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NetBird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Text 20"/>
          <p:cNvSpPr/>
          <p:nvPr/>
        </p:nvSpPr>
        <p:spPr>
          <a:xfrm>
            <a:off x="822960" y="454464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github.com/netbirdio/netbird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Text 21"/>
          <p:cNvSpPr/>
          <p:nvPr/>
        </p:nvSpPr>
        <p:spPr>
          <a:xfrm>
            <a:off x="822960" y="4846320"/>
            <a:ext cx="51195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Берлинский open-source, AGPLv3. Kernel WireGuard, self-hostable, нативный Rosenpass.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Shape 22"/>
          <p:cNvSpPr/>
          <p:nvPr/>
        </p:nvSpPr>
        <p:spPr>
          <a:xfrm>
            <a:off x="6190560" y="4087440"/>
            <a:ext cx="5531040" cy="127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Shape 23"/>
          <p:cNvSpPr/>
          <p:nvPr/>
        </p:nvSpPr>
        <p:spPr>
          <a:xfrm>
            <a:off x="6190560" y="4087440"/>
            <a:ext cx="81360" cy="12790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ext 24"/>
          <p:cNvSpPr/>
          <p:nvPr/>
        </p:nvSpPr>
        <p:spPr>
          <a:xfrm>
            <a:off x="6464880" y="420624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Nebula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Text 25"/>
          <p:cNvSpPr/>
          <p:nvPr/>
        </p:nvSpPr>
        <p:spPr>
          <a:xfrm>
            <a:off x="6464880" y="454464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github.com/slackhq/nebula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Text 26"/>
          <p:cNvSpPr/>
          <p:nvPr/>
        </p:nvSpPr>
        <p:spPr>
          <a:xfrm>
            <a:off x="6464880" y="4846320"/>
            <a:ext cx="51195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Slack, MIT. Свой Noise-based протокол, X.509-like сертификаты. 50k+ production-узлов.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Shape 27"/>
          <p:cNvSpPr/>
          <p:nvPr/>
        </p:nvSpPr>
        <p:spPr>
          <a:xfrm>
            <a:off x="548640" y="5477400"/>
            <a:ext cx="5531040" cy="127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Shape 28"/>
          <p:cNvSpPr/>
          <p:nvPr/>
        </p:nvSpPr>
        <p:spPr>
          <a:xfrm>
            <a:off x="548640" y="5477400"/>
            <a:ext cx="81360" cy="12790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29"/>
          <p:cNvSpPr/>
          <p:nvPr/>
        </p:nvSpPr>
        <p:spPr>
          <a:xfrm>
            <a:off x="822960" y="559620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rosenpass-go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Text 30"/>
          <p:cNvSpPr/>
          <p:nvPr/>
        </p:nvSpPr>
        <p:spPr>
          <a:xfrm>
            <a:off x="822960" y="593460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github.com/cunicu/go-rosenpass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 31"/>
          <p:cNvSpPr/>
          <p:nvPr/>
        </p:nvSpPr>
        <p:spPr>
          <a:xfrm>
            <a:off x="822960" y="6236280"/>
            <a:ext cx="51195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Go-порт Rosenpass. Post-quantum PSK-генерация для WireGuard.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Shape 32"/>
          <p:cNvSpPr/>
          <p:nvPr/>
        </p:nvSpPr>
        <p:spPr>
          <a:xfrm>
            <a:off x="6190560" y="5477400"/>
            <a:ext cx="5531040" cy="127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Shape 33"/>
          <p:cNvSpPr/>
          <p:nvPr/>
        </p:nvSpPr>
        <p:spPr>
          <a:xfrm>
            <a:off x="6190560" y="5477400"/>
            <a:ext cx="81360" cy="127908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34"/>
          <p:cNvSpPr/>
          <p:nvPr/>
        </p:nvSpPr>
        <p:spPr>
          <a:xfrm>
            <a:off x="6464880" y="559620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500" spc="-1" strike="noStrike">
                <a:solidFill>
                  <a:srgbClr val="e6edf3"/>
                </a:solidFill>
                <a:latin typeface="Arial Black"/>
                <a:ea typeface="Arial Black"/>
              </a:rPr>
              <a:t>quic-go + masque-go</a:t>
            </a:r>
            <a:endParaRPr b="0" lang="ru-RU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35"/>
          <p:cNvSpPr/>
          <p:nvPr/>
        </p:nvSpPr>
        <p:spPr>
          <a:xfrm>
            <a:off x="6464880" y="593460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github.com/quic-go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Text 36"/>
          <p:cNvSpPr/>
          <p:nvPr/>
        </p:nvSpPr>
        <p:spPr>
          <a:xfrm>
            <a:off x="6464880" y="6236280"/>
            <a:ext cx="51195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alibri"/>
                <a:ea typeface="Calibri"/>
              </a:rPr>
              <a:t>QUIC и MASQUE реализации на Go. CONNECT-UDP, CONNECT-IP.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27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ЧАСТЬ 12  ·  ПРАКТИКА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Что можно сделать самому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4"/>
          <p:cNvSpPr/>
          <p:nvPr/>
        </p:nvSpPr>
        <p:spPr>
          <a:xfrm>
            <a:off x="548640" y="169164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400" spc="-1" strike="noStrike">
                <a:solidFill>
                  <a:srgbClr val="8b949e"/>
                </a:solidFill>
                <a:latin typeface="Calibri"/>
                <a:ea typeface="Calibri"/>
              </a:rPr>
              <a:t>Три pet-project, которые дадут реальное понимание — от простого к сложному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Shape 5"/>
          <p:cNvSpPr/>
          <p:nvPr/>
        </p:nvSpPr>
        <p:spPr>
          <a:xfrm>
            <a:off x="548640" y="2286000"/>
            <a:ext cx="11063160" cy="132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Shape 6"/>
          <p:cNvSpPr/>
          <p:nvPr/>
        </p:nvSpPr>
        <p:spPr>
          <a:xfrm>
            <a:off x="548640" y="2286000"/>
            <a:ext cx="108720" cy="13248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Text 7"/>
          <p:cNvSpPr/>
          <p:nvPr/>
        </p:nvSpPr>
        <p:spPr>
          <a:xfrm>
            <a:off x="777240" y="2423160"/>
            <a:ext cx="9133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4000" spc="-1" strike="noStrike">
                <a:solidFill>
                  <a:srgbClr val="00d9b8"/>
                </a:solidFill>
                <a:latin typeface="Arial Black"/>
                <a:ea typeface="Arial Black"/>
              </a:rPr>
              <a:t>01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Text 8"/>
          <p:cNvSpPr/>
          <p:nvPr/>
        </p:nvSpPr>
        <p:spPr>
          <a:xfrm>
            <a:off x="777240" y="315468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194" strike="noStrike">
                <a:solidFill>
                  <a:srgbClr val="00d9b8"/>
                </a:solidFill>
                <a:latin typeface="Consolas"/>
                <a:ea typeface="Consolas"/>
              </a:rPr>
              <a:t>СРЕДНИЙ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Text 9"/>
          <p:cNvSpPr/>
          <p:nvPr/>
        </p:nvSpPr>
        <p:spPr>
          <a:xfrm>
            <a:off x="2011680" y="2395800"/>
            <a:ext cx="9417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Игрушечный VPN с нуля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 10"/>
          <p:cNvSpPr/>
          <p:nvPr/>
        </p:nvSpPr>
        <p:spPr>
          <a:xfrm>
            <a:off x="2011680" y="2743200"/>
            <a:ext cx="9417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Создать TUN через songgao/water. Поднять UDP-сокет. Две горутины: «читаем TUN → шифруем через x/crypto/chacha20poly1305 → шлём в UDP» и обратная.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11"/>
          <p:cNvSpPr/>
          <p:nvPr/>
        </p:nvSpPr>
        <p:spPr>
          <a:xfrm>
            <a:off x="2011680" y="3200400"/>
            <a:ext cx="594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00d9b8"/>
                </a:solidFill>
                <a:latin typeface="Consolas"/>
                <a:ea typeface="Consolas"/>
              </a:rPr>
              <a:t>stack: songgao/water · x/crypto/chacha20poly1305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Text 12"/>
          <p:cNvSpPr/>
          <p:nvPr/>
        </p:nvSpPr>
        <p:spPr>
          <a:xfrm>
            <a:off x="2011680" y="3337560"/>
            <a:ext cx="9417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Даст понимание ВСЕХ шагов инкапсуляции, даже без handshake (с захардкоженным ключом).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13"/>
          <p:cNvSpPr/>
          <p:nvPr/>
        </p:nvSpPr>
        <p:spPr>
          <a:xfrm>
            <a:off x="548640" y="3749040"/>
            <a:ext cx="11063160" cy="132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Shape 14"/>
          <p:cNvSpPr/>
          <p:nvPr/>
        </p:nvSpPr>
        <p:spPr>
          <a:xfrm>
            <a:off x="548640" y="3749040"/>
            <a:ext cx="108720" cy="1324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Text 15"/>
          <p:cNvSpPr/>
          <p:nvPr/>
        </p:nvSpPr>
        <p:spPr>
          <a:xfrm>
            <a:off x="777240" y="3886200"/>
            <a:ext cx="9133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4000" spc="-1" strike="noStrike">
                <a:solidFill>
                  <a:srgbClr val="7c3aed"/>
                </a:solidFill>
                <a:latin typeface="Arial Black"/>
                <a:ea typeface="Arial Black"/>
              </a:rPr>
              <a:t>02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Text 16"/>
          <p:cNvSpPr/>
          <p:nvPr/>
        </p:nvSpPr>
        <p:spPr>
          <a:xfrm>
            <a:off x="777240" y="46177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194" strike="noStrike">
                <a:solidFill>
                  <a:srgbClr val="7c3aed"/>
                </a:solidFill>
                <a:latin typeface="Consolas"/>
                <a:ea typeface="Consolas"/>
              </a:rPr>
              <a:t>ЛЁГКИЙ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Text 17"/>
          <p:cNvSpPr/>
          <p:nvPr/>
        </p:nvSpPr>
        <p:spPr>
          <a:xfrm>
            <a:off x="2011680" y="3858840"/>
            <a:ext cx="9417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Встроить tsnet в HTTP-сервис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Text 18"/>
          <p:cNvSpPr/>
          <p:nvPr/>
        </p:nvSpPr>
        <p:spPr>
          <a:xfrm>
            <a:off x="2011680" y="4206240"/>
            <a:ext cx="9417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Три строки кода: s := &amp;tsnet.Server{}, ln, _ := s.Listen(...), http.Serve(ln, mux). Ваш сервис получает MagicDNS имя в tailnet.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Text 19"/>
          <p:cNvSpPr/>
          <p:nvPr/>
        </p:nvSpPr>
        <p:spPr>
          <a:xfrm>
            <a:off x="2011680" y="4663440"/>
            <a:ext cx="594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00d9b8"/>
                </a:solidFill>
                <a:latin typeface="Consolas"/>
                <a:ea typeface="Consolas"/>
              </a:rPr>
              <a:t>stack: tailscale.com/tsnet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Text 20"/>
          <p:cNvSpPr/>
          <p:nvPr/>
        </p:nvSpPr>
        <p:spPr>
          <a:xfrm>
            <a:off x="2011680" y="4800600"/>
            <a:ext cx="9417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Увидите, как работает mesh-VPN «сверху» — без ручного управления ключами.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21"/>
          <p:cNvSpPr/>
          <p:nvPr/>
        </p:nvSpPr>
        <p:spPr>
          <a:xfrm>
            <a:off x="548640" y="5212080"/>
            <a:ext cx="11063160" cy="132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22"/>
          <p:cNvSpPr/>
          <p:nvPr/>
        </p:nvSpPr>
        <p:spPr>
          <a:xfrm>
            <a:off x="548640" y="5212080"/>
            <a:ext cx="108720" cy="1324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ext 23"/>
          <p:cNvSpPr/>
          <p:nvPr/>
        </p:nvSpPr>
        <p:spPr>
          <a:xfrm>
            <a:off x="777240" y="5349240"/>
            <a:ext cx="9133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4000" spc="-1" strike="noStrike">
                <a:solidFill>
                  <a:srgbClr val="ff8c42"/>
                </a:solidFill>
                <a:latin typeface="Arial Black"/>
                <a:ea typeface="Arial Black"/>
              </a:rPr>
              <a:t>03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Text 24"/>
          <p:cNvSpPr/>
          <p:nvPr/>
        </p:nvSpPr>
        <p:spPr>
          <a:xfrm>
            <a:off x="777240" y="608076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900" spc="194" strike="noStrike">
                <a:solidFill>
                  <a:srgbClr val="ff8c42"/>
                </a:solidFill>
                <a:latin typeface="Consolas"/>
                <a:ea typeface="Consolas"/>
              </a:rPr>
              <a:t>ПРОДВИНУТЫЙ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Text 25"/>
          <p:cNvSpPr/>
          <p:nvPr/>
        </p:nvSpPr>
        <p:spPr>
          <a:xfrm>
            <a:off x="2011680" y="5321880"/>
            <a:ext cx="9417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700" spc="-1" strike="noStrike">
                <a:solidFill>
                  <a:srgbClr val="e6edf3"/>
                </a:solidFill>
                <a:latin typeface="Arial Black"/>
                <a:ea typeface="Arial Black"/>
              </a:rPr>
              <a:t>MASQUE-клиент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Text 26"/>
          <p:cNvSpPr/>
          <p:nvPr/>
        </p:nvSpPr>
        <p:spPr>
          <a:xfrm>
            <a:off x="2011680" y="5669280"/>
            <a:ext cx="9417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8b949e"/>
                </a:solidFill>
                <a:latin typeface="Calibri"/>
                <a:ea typeface="Calibri"/>
              </a:rPr>
              <a:t>Написать клиент CONNECT-UDP на quic-go/masque-go. Проксирование UDP через HTTP/3.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Text 27"/>
          <p:cNvSpPr/>
          <p:nvPr/>
        </p:nvSpPr>
        <p:spPr>
          <a:xfrm>
            <a:off x="2011680" y="6126480"/>
            <a:ext cx="594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00d9b8"/>
                </a:solidFill>
                <a:latin typeface="Consolas"/>
                <a:ea typeface="Consolas"/>
              </a:rPr>
              <a:t>stack: quic-go/quic-go · quic-go/masque-go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Text 28"/>
          <p:cNvSpPr/>
          <p:nvPr/>
        </p:nvSpPr>
        <p:spPr>
          <a:xfrm>
            <a:off x="2011680" y="6263640"/>
            <a:ext cx="9417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ru-RU" sz="1100" spc="-1" strike="noStrike">
                <a:solidFill>
                  <a:srgbClr val="e6edf3"/>
                </a:solidFill>
                <a:latin typeface="Calibri"/>
                <a:ea typeface="Calibri"/>
              </a:rPr>
              <a:t>Самая современная архитектура. Будете первыми в курсе, кто это сделал.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28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ИТОГИ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TL;DR — если сжать доклад в одну страницу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4"/>
          <p:cNvSpPr/>
          <p:nvPr/>
        </p:nvSpPr>
        <p:spPr>
          <a:xfrm>
            <a:off x="548640" y="1783080"/>
            <a:ext cx="255924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 5"/>
          <p:cNvSpPr/>
          <p:nvPr/>
        </p:nvSpPr>
        <p:spPr>
          <a:xfrm>
            <a:off x="548640" y="1783080"/>
            <a:ext cx="255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VPN — это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6"/>
          <p:cNvSpPr/>
          <p:nvPr/>
        </p:nvSpPr>
        <p:spPr>
          <a:xfrm>
            <a:off x="3200400" y="1783080"/>
            <a:ext cx="8411400" cy="5475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Text 7"/>
          <p:cNvSpPr/>
          <p:nvPr/>
        </p:nvSpPr>
        <p:spPr>
          <a:xfrm>
            <a:off x="3383280" y="1783080"/>
            <a:ext cx="813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зашифрованный туннель. TUN-интерфейс, инкапсуляция в UDP, AEAD-шифр, двойной routing lookup.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8"/>
          <p:cNvSpPr/>
          <p:nvPr/>
        </p:nvSpPr>
        <p:spPr>
          <a:xfrm>
            <a:off x="548640" y="2441520"/>
            <a:ext cx="255924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Text 9"/>
          <p:cNvSpPr/>
          <p:nvPr/>
        </p:nvSpPr>
        <p:spPr>
          <a:xfrm>
            <a:off x="548640" y="2441520"/>
            <a:ext cx="255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Протоколы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10"/>
          <p:cNvSpPr/>
          <p:nvPr/>
        </p:nvSpPr>
        <p:spPr>
          <a:xfrm>
            <a:off x="3200400" y="2441520"/>
            <a:ext cx="8411400" cy="5475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Text 11"/>
          <p:cNvSpPr/>
          <p:nvPr/>
        </p:nvSpPr>
        <p:spPr>
          <a:xfrm>
            <a:off x="3383280" y="2441520"/>
            <a:ext cx="813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WireGuard (король) · OpenVPN (классика) · IPsec (корп-тяжеловес) · PPTP (сломан и запрещён).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12"/>
          <p:cNvSpPr/>
          <p:nvPr/>
        </p:nvSpPr>
        <p:spPr>
          <a:xfrm>
            <a:off x="548640" y="3099960"/>
            <a:ext cx="255924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13"/>
          <p:cNvSpPr/>
          <p:nvPr/>
        </p:nvSpPr>
        <p:spPr>
          <a:xfrm>
            <a:off x="548640" y="3099960"/>
            <a:ext cx="255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Пакет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14"/>
          <p:cNvSpPr/>
          <p:nvPr/>
        </p:nvSpPr>
        <p:spPr>
          <a:xfrm>
            <a:off x="3200400" y="3099960"/>
            <a:ext cx="8411400" cy="5475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Text 15"/>
          <p:cNvSpPr/>
          <p:nvPr/>
        </p:nvSpPr>
        <p:spPr>
          <a:xfrm>
            <a:off x="3383280" y="3099960"/>
            <a:ext cx="813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ChaCha20-Poly1305, handshake через X25519. MTU 1420, MSS clamping от ICMP black hole.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Shape 16"/>
          <p:cNvSpPr/>
          <p:nvPr/>
        </p:nvSpPr>
        <p:spPr>
          <a:xfrm>
            <a:off x="548640" y="3758040"/>
            <a:ext cx="255924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Text 17"/>
          <p:cNvSpPr/>
          <p:nvPr/>
        </p:nvSpPr>
        <p:spPr>
          <a:xfrm>
            <a:off x="548640" y="3758040"/>
            <a:ext cx="255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IPv6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18"/>
          <p:cNvSpPr/>
          <p:nvPr/>
        </p:nvSpPr>
        <p:spPr>
          <a:xfrm>
            <a:off x="3200400" y="3758040"/>
            <a:ext cx="8411400" cy="5475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 19"/>
          <p:cNvSpPr/>
          <p:nvPr/>
        </p:nvSpPr>
        <p:spPr>
          <a:xfrm>
            <a:off x="3383280" y="3758040"/>
            <a:ext cx="813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Поддерживается всеми, но часто отключается из-за leak'ов. В 2026 ≥50% глобально. РФ отстаёт.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20"/>
          <p:cNvSpPr/>
          <p:nvPr/>
        </p:nvSpPr>
        <p:spPr>
          <a:xfrm>
            <a:off x="548640" y="4416480"/>
            <a:ext cx="255924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21"/>
          <p:cNvSpPr/>
          <p:nvPr/>
        </p:nvSpPr>
        <p:spPr>
          <a:xfrm>
            <a:off x="548640" y="4416480"/>
            <a:ext cx="255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Корпоратив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Shape 22"/>
          <p:cNvSpPr/>
          <p:nvPr/>
        </p:nvSpPr>
        <p:spPr>
          <a:xfrm>
            <a:off x="3200400" y="4416480"/>
            <a:ext cx="8411400" cy="5475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Text 23"/>
          <p:cNvSpPr/>
          <p:nvPr/>
        </p:nvSpPr>
        <p:spPr>
          <a:xfrm>
            <a:off x="3383280" y="4416480"/>
            <a:ext cx="813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Zero Trust / SASE вместо периметра. Mesh-VPN (Tailscale, NetBird) вместо concentrator-ов.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Shape 24"/>
          <p:cNvSpPr/>
          <p:nvPr/>
        </p:nvSpPr>
        <p:spPr>
          <a:xfrm>
            <a:off x="548640" y="5074920"/>
            <a:ext cx="255924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25"/>
          <p:cNvSpPr/>
          <p:nvPr/>
        </p:nvSpPr>
        <p:spPr>
          <a:xfrm>
            <a:off x="548640" y="5074920"/>
            <a:ext cx="255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Пользователи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Shape 26"/>
          <p:cNvSpPr/>
          <p:nvPr/>
        </p:nvSpPr>
        <p:spPr>
          <a:xfrm>
            <a:off x="3200400" y="5074920"/>
            <a:ext cx="8411400" cy="5475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27"/>
          <p:cNvSpPr/>
          <p:nvPr/>
        </p:nvSpPr>
        <p:spPr>
          <a:xfrm>
            <a:off x="3383280" y="5074920"/>
            <a:ext cx="813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WireGuard везде. Post-quantum подъезжает. MASQUE = VPN внутри HTTP/3. Reality против DPI.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Shape 28"/>
          <p:cNvSpPr/>
          <p:nvPr/>
        </p:nvSpPr>
        <p:spPr>
          <a:xfrm>
            <a:off x="548640" y="5733360"/>
            <a:ext cx="2559240" cy="54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Text 29"/>
          <p:cNvSpPr/>
          <p:nvPr/>
        </p:nvSpPr>
        <p:spPr>
          <a:xfrm>
            <a:off x="548640" y="5733360"/>
            <a:ext cx="255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300" spc="-1" strike="noStrike">
                <a:solidFill>
                  <a:srgbClr val="00d9b8"/>
                </a:solidFill>
                <a:latin typeface="Arial Black"/>
                <a:ea typeface="Arial Black"/>
              </a:rPr>
              <a:t>Для Go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Shape 30"/>
          <p:cNvSpPr/>
          <p:nvPr/>
        </p:nvSpPr>
        <p:spPr>
          <a:xfrm>
            <a:off x="3200400" y="5733360"/>
            <a:ext cx="8411400" cy="5475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31"/>
          <p:cNvSpPr/>
          <p:nvPr/>
        </p:nvSpPr>
        <p:spPr>
          <a:xfrm>
            <a:off x="3383280" y="5733360"/>
            <a:ext cx="813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e6edf3"/>
                </a:solidFill>
                <a:latin typeface="Calibri"/>
                <a:ea typeface="Calibri"/>
              </a:rPr>
              <a:t>Tailscale, NetBird, Nebula, wireguard-go — всё на Go. Читаемый production-код, живая экосистема.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Text 0"/>
          <p:cNvSpPr/>
          <p:nvPr/>
        </p:nvSpPr>
        <p:spPr>
          <a:xfrm>
            <a:off x="10698480" y="2743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000" spc="-1" strike="noStrike">
                <a:solidFill>
                  <a:srgbClr val="6e7681"/>
                </a:solidFill>
                <a:latin typeface="Consolas"/>
                <a:ea typeface="Consolas"/>
              </a:rPr>
              <a:t>29 / 31</a:t>
            </a:r>
            <a:endParaRPr b="0" lang="ru-RU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Text 2"/>
          <p:cNvSpPr/>
          <p:nvPr/>
        </p:nvSpPr>
        <p:spPr>
          <a:xfrm>
            <a:off x="548640" y="411480"/>
            <a:ext cx="9142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100" spc="392" strike="noStrike">
                <a:solidFill>
                  <a:srgbClr val="00d9b8"/>
                </a:solidFill>
                <a:latin typeface="Consolas"/>
                <a:ea typeface="Consolas"/>
              </a:rPr>
              <a:t>SOURCES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Text 3"/>
          <p:cNvSpPr/>
          <p:nvPr/>
        </p:nvSpPr>
        <p:spPr>
          <a:xfrm>
            <a:off x="548640" y="73152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000" spc="-1" strike="noStrike">
                <a:solidFill>
                  <a:srgbClr val="e6edf3"/>
                </a:solidFill>
                <a:latin typeface="Arial Black"/>
                <a:ea typeface="Arial Black"/>
              </a:rPr>
              <a:t>Источники — от лёгких к глубоким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Shape 4"/>
          <p:cNvSpPr/>
          <p:nvPr/>
        </p:nvSpPr>
        <p:spPr>
          <a:xfrm>
            <a:off x="548640" y="1737360"/>
            <a:ext cx="5531040" cy="2056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Shape 5"/>
          <p:cNvSpPr/>
          <p:nvPr/>
        </p:nvSpPr>
        <p:spPr>
          <a:xfrm>
            <a:off x="548640" y="1737360"/>
            <a:ext cx="81360" cy="2056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Text 6"/>
          <p:cNvSpPr/>
          <p:nvPr/>
        </p:nvSpPr>
        <p:spPr>
          <a:xfrm>
            <a:off x="777240" y="1874520"/>
            <a:ext cx="5119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3fb950"/>
                </a:solidFill>
                <a:latin typeface="Consolas"/>
                <a:ea typeface="Consolas"/>
              </a:rPr>
              <a:t>ДЛЯ ПЕРВОГО ЗНАКОМСТВА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Text 7"/>
          <p:cNvSpPr/>
          <p:nvPr/>
        </p:nvSpPr>
        <p:spPr>
          <a:xfrm>
            <a:off x="777240" y="224028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tailscale.com/blog/how-tailscale-works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Text 8"/>
          <p:cNvSpPr/>
          <p:nvPr/>
        </p:nvSpPr>
        <p:spPr>
          <a:xfrm>
            <a:off x="777240" y="256032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tailscale.com/blog/how-nat-traversal-works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9"/>
          <p:cNvSpPr/>
          <p:nvPr/>
        </p:nvSpPr>
        <p:spPr>
          <a:xfrm>
            <a:off x="777240" y="288036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wireguard.com/protocol/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4" name="Text 10"/>
          <p:cNvSpPr/>
          <p:nvPr/>
        </p:nvSpPr>
        <p:spPr>
          <a:xfrm>
            <a:off x="777240" y="320040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slack.engineering/introducing-nebula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5" name="Shape 11"/>
          <p:cNvSpPr/>
          <p:nvPr/>
        </p:nvSpPr>
        <p:spPr>
          <a:xfrm>
            <a:off x="6263640" y="1737360"/>
            <a:ext cx="5531040" cy="2056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Shape 12"/>
          <p:cNvSpPr/>
          <p:nvPr/>
        </p:nvSpPr>
        <p:spPr>
          <a:xfrm>
            <a:off x="6263640" y="1737360"/>
            <a:ext cx="81360" cy="205632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Text 13"/>
          <p:cNvSpPr/>
          <p:nvPr/>
        </p:nvSpPr>
        <p:spPr>
          <a:xfrm>
            <a:off x="6492240" y="1874520"/>
            <a:ext cx="5119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00d9b8"/>
                </a:solidFill>
                <a:latin typeface="Consolas"/>
                <a:ea typeface="Consolas"/>
              </a:rPr>
              <a:t>WHITEPAPERS / АКАДЕМИЯ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Text 14"/>
          <p:cNvSpPr/>
          <p:nvPr/>
        </p:nvSpPr>
        <p:spPr>
          <a:xfrm>
            <a:off x="6492240" y="224028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Donenfeld «WireGuard» NDSS 2017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15"/>
          <p:cNvSpPr/>
          <p:nvPr/>
        </p:nvSpPr>
        <p:spPr>
          <a:xfrm>
            <a:off x="6492240" y="256032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Dowling &amp; Paterson — IACR 2018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Text 16"/>
          <p:cNvSpPr/>
          <p:nvPr/>
        </p:nvSpPr>
        <p:spPr>
          <a:xfrm>
            <a:off x="6492240" y="288036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Ward &amp; Beyer «BeyondCorp» USENIX 2014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Text 17"/>
          <p:cNvSpPr/>
          <p:nvPr/>
        </p:nvSpPr>
        <p:spPr>
          <a:xfrm>
            <a:off x="6492240" y="320040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NIST SP 800-207 Zero Trust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Shape 18"/>
          <p:cNvSpPr/>
          <p:nvPr/>
        </p:nvSpPr>
        <p:spPr>
          <a:xfrm>
            <a:off x="548640" y="3977640"/>
            <a:ext cx="5531040" cy="2056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Shape 19"/>
          <p:cNvSpPr/>
          <p:nvPr/>
        </p:nvSpPr>
        <p:spPr>
          <a:xfrm>
            <a:off x="548640" y="3977640"/>
            <a:ext cx="81360" cy="2056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Text 20"/>
          <p:cNvSpPr/>
          <p:nvPr/>
        </p:nvSpPr>
        <p:spPr>
          <a:xfrm>
            <a:off x="777240" y="4114800"/>
            <a:ext cx="5119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7c3aed"/>
                </a:solidFill>
                <a:latin typeface="Consolas"/>
                <a:ea typeface="Consolas"/>
              </a:rPr>
              <a:t>RFC (СПЕЦИФИКАЦИИ)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21"/>
          <p:cNvSpPr/>
          <p:nvPr/>
        </p:nvSpPr>
        <p:spPr>
          <a:xfrm>
            <a:off x="777240" y="448056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RFC 4301, 4303, 7296 — IPsec / IKEv2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Text 22"/>
          <p:cNvSpPr/>
          <p:nvPr/>
        </p:nvSpPr>
        <p:spPr>
          <a:xfrm>
            <a:off x="777240" y="480060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RFC 7748 — Curve25519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7" name="Text 23"/>
          <p:cNvSpPr/>
          <p:nvPr/>
        </p:nvSpPr>
        <p:spPr>
          <a:xfrm>
            <a:off x="777240" y="512064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RFC 8439 — ChaCha20-Poly1305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Text 24"/>
          <p:cNvSpPr/>
          <p:nvPr/>
        </p:nvSpPr>
        <p:spPr>
          <a:xfrm>
            <a:off x="777240" y="544068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RFC 9297, 9298, 9484 — MASQUE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Text 25"/>
          <p:cNvSpPr/>
          <p:nvPr/>
        </p:nvSpPr>
        <p:spPr>
          <a:xfrm>
            <a:off x="777240" y="576072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RFC 8489, 8656, 8445 — NAT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Shape 26"/>
          <p:cNvSpPr/>
          <p:nvPr/>
        </p:nvSpPr>
        <p:spPr>
          <a:xfrm>
            <a:off x="6263640" y="3977640"/>
            <a:ext cx="5531040" cy="2056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Shape 27"/>
          <p:cNvSpPr/>
          <p:nvPr/>
        </p:nvSpPr>
        <p:spPr>
          <a:xfrm>
            <a:off x="6263640" y="3977640"/>
            <a:ext cx="81360" cy="2056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 28"/>
          <p:cNvSpPr/>
          <p:nvPr/>
        </p:nvSpPr>
        <p:spPr>
          <a:xfrm>
            <a:off x="6492240" y="4114800"/>
            <a:ext cx="5119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" spc="293" strike="noStrike">
                <a:solidFill>
                  <a:srgbClr val="ff8c42"/>
                </a:solidFill>
                <a:latin typeface="Consolas"/>
                <a:ea typeface="Consolas"/>
              </a:rPr>
              <a:t>ИСХОДНЫЙ КОД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Text 29"/>
          <p:cNvSpPr/>
          <p:nvPr/>
        </p:nvSpPr>
        <p:spPr>
          <a:xfrm>
            <a:off x="6492240" y="448056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github.com/WireGuard/wireguard-go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Text 30"/>
          <p:cNvSpPr/>
          <p:nvPr/>
        </p:nvSpPr>
        <p:spPr>
          <a:xfrm>
            <a:off x="6492240" y="480060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github.com/tailscale/tailscale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Text 31"/>
          <p:cNvSpPr/>
          <p:nvPr/>
        </p:nvSpPr>
        <p:spPr>
          <a:xfrm>
            <a:off x="6492240" y="512064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github.com/netbirdio/netbird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Text 32"/>
          <p:cNvSpPr/>
          <p:nvPr/>
        </p:nvSpPr>
        <p:spPr>
          <a:xfrm>
            <a:off x="6492240" y="544068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github.com/slackhq/nebula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Text 33"/>
          <p:cNvSpPr/>
          <p:nvPr/>
        </p:nvSpPr>
        <p:spPr>
          <a:xfrm>
            <a:off x="6492240" y="5760720"/>
            <a:ext cx="5119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e6edf3"/>
                </a:solidFill>
                <a:latin typeface="Consolas"/>
                <a:ea typeface="Consolas"/>
              </a:rPr>
              <a:t>·  github.com/XTLS/Xray-core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Shape 34"/>
          <p:cNvSpPr/>
          <p:nvPr/>
        </p:nvSpPr>
        <p:spPr>
          <a:xfrm>
            <a:off x="548640" y="6309360"/>
            <a:ext cx="11063160" cy="41040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Text 35"/>
          <p:cNvSpPr/>
          <p:nvPr/>
        </p:nvSpPr>
        <p:spPr>
          <a:xfrm>
            <a:off x="777240" y="6309360"/>
            <a:ext cx="10788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-1" strike="noStrike">
                <a:solidFill>
                  <a:srgbClr val="8b949e"/>
                </a:solidFill>
                <a:latin typeface="Consolas"/>
                <a:ea typeface="Consolas"/>
              </a:rPr>
              <a:t>Статистика IPv6:  </a:t>
            </a:r>
            <a:r>
              <a:rPr b="0" lang="ru-RU" sz="1100" spc="-1" strike="noStrike">
                <a:solidFill>
                  <a:srgbClr val="00d9b8"/>
                </a:solidFill>
                <a:latin typeface="Consolas"/>
                <a:ea typeface="Consolas"/>
              </a:rPr>
              <a:t>google.com/ipv6/statistics   ·   stats.labs.apnic.net/ipv6   ·   radar.cloudflare.com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Text 0"/>
          <p:cNvSpPr/>
          <p:nvPr/>
        </p:nvSpPr>
        <p:spPr>
          <a:xfrm>
            <a:off x="548640" y="1645920"/>
            <a:ext cx="109717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2000" spc="-1" strike="noStrike">
                <a:solidFill>
                  <a:srgbClr val="e6edf3"/>
                </a:solidFill>
                <a:latin typeface="Arial Black"/>
                <a:ea typeface="Arial Black"/>
              </a:rPr>
              <a:t>Спасибо</a:t>
            </a:r>
            <a:endParaRPr b="0" lang="ru-RU" sz="1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Shape 1"/>
          <p:cNvSpPr/>
          <p:nvPr/>
        </p:nvSpPr>
        <p:spPr>
          <a:xfrm>
            <a:off x="5715000" y="3520440"/>
            <a:ext cx="730440" cy="72000"/>
          </a:xfrm>
          <a:prstGeom prst="rect">
            <a:avLst/>
          </a:prstGeom>
          <a:solidFill>
            <a:srgbClr val="00d9b8"/>
          </a:solidFill>
          <a:ln w="12700">
            <a:solidFill>
              <a:srgbClr val="00d9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Text 2"/>
          <p:cNvSpPr/>
          <p:nvPr/>
        </p:nvSpPr>
        <p:spPr>
          <a:xfrm>
            <a:off x="548640" y="3749040"/>
            <a:ext cx="10971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200" spc="-1" strike="noStrike">
                <a:solidFill>
                  <a:srgbClr val="00d9b8"/>
                </a:solidFill>
                <a:latin typeface="Arial Black"/>
                <a:ea typeface="Arial Black"/>
              </a:rPr>
              <a:t>Вопросы?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Text 3"/>
          <p:cNvSpPr/>
          <p:nvPr/>
        </p:nvSpPr>
        <p:spPr>
          <a:xfrm>
            <a:off x="548640" y="576072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100" spc="293" strike="noStrike">
                <a:solidFill>
                  <a:srgbClr val="6e7681"/>
                </a:solidFill>
                <a:latin typeface="Consolas"/>
                <a:ea typeface="Consolas"/>
              </a:rPr>
              <a:t>01 00 00 00  —  handshake initiation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Text 4"/>
          <p:cNvSpPr/>
          <p:nvPr/>
        </p:nvSpPr>
        <p:spPr>
          <a:xfrm>
            <a:off x="548640" y="612648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2026-04-24T22:02:49Z</dcterms:created>
  <dc:creator>ITMO Golang Course</dc:creator>
  <dc:description/>
  <dc:language>ru-RU</dc:language>
  <cp:lastModifiedBy/>
  <dcterms:modified xsi:type="dcterms:W3CDTF">2026-04-28T19:11:30Z</dcterms:modified>
  <cp:revision>14</cp:revision>
  <dc:subject>PptxGenJS Presentation</dc:subject>
  <dc:title>VPN: протоколы, пакеты и куда всё это движется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On-screen Show (16:9)</vt:lpwstr>
  </property>
  <property fmtid="{D5CDD505-2E9C-101B-9397-08002B2CF9AE}" pid="4" name="Slides">
    <vt:i4>30</vt:i4>
  </property>
</Properties>
</file>